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10.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7.png"/><Relationship Id="rId5" Type="http://schemas.openxmlformats.org/officeDocument/2006/relationships/image" Target="../media/image12.png"/><Relationship Id="rId10" Type="http://schemas.openxmlformats.org/officeDocument/2006/relationships/image" Target="../media/image16.png"/><Relationship Id="rId4" Type="http://schemas.openxmlformats.org/officeDocument/2006/relationships/image" Target="../media/image11.png"/><Relationship Id="rId9" Type="http://schemas.openxmlformats.org/officeDocument/2006/relationships/image" Target="../media/image15.png"/><Relationship Id="rId14" Type="http://schemas.openxmlformats.org/officeDocument/2006/relationships/image" Target="../media/image20.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24.png"/><Relationship Id="rId3" Type="http://schemas.openxmlformats.org/officeDocument/2006/relationships/image" Target="../media/image10.png"/><Relationship Id="rId7" Type="http://schemas.openxmlformats.org/officeDocument/2006/relationships/image" Target="../media/image21.png"/><Relationship Id="rId12"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22.png"/><Relationship Id="rId5" Type="http://schemas.openxmlformats.org/officeDocument/2006/relationships/image" Target="../media/image12.png"/><Relationship Id="rId10" Type="http://schemas.openxmlformats.org/officeDocument/2006/relationships/image" Target="../media/image16.png"/><Relationship Id="rId4" Type="http://schemas.openxmlformats.org/officeDocument/2006/relationships/image" Target="../media/image11.png"/><Relationship Id="rId9" Type="http://schemas.openxmlformats.org/officeDocument/2006/relationships/image" Target="../media/image15.png"/><Relationship Id="rId14" Type="http://schemas.openxmlformats.org/officeDocument/2006/relationships/image" Target="../media/image20.png"/></Relationships>
</file>

<file path=ppt/slides/_rels/slide4.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12" Type="http://schemas.openxmlformats.org/officeDocument/2006/relationships/image" Target="../media/image3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8.png"/><Relationship Id="rId11" Type="http://schemas.openxmlformats.org/officeDocument/2006/relationships/image" Target="../media/image32.png"/><Relationship Id="rId5" Type="http://schemas.openxmlformats.org/officeDocument/2006/relationships/image" Target="../media/image27.png"/><Relationship Id="rId10" Type="http://schemas.openxmlformats.org/officeDocument/2006/relationships/image" Target="../media/image31.png"/><Relationship Id="rId4" Type="http://schemas.openxmlformats.org/officeDocument/2006/relationships/image" Target="../media/image26.png"/><Relationship Id="rId9"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18" Type="http://schemas.openxmlformats.org/officeDocument/2006/relationships/image" Target="../media/image48.png"/><Relationship Id="rId3" Type="http://schemas.openxmlformats.org/officeDocument/2006/relationships/image" Target="../media/image34.png"/><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image" Target="../media/image5.png"/><Relationship Id="rId2" Type="http://schemas.openxmlformats.org/officeDocument/2006/relationships/image" Target="../media/image1.png"/><Relationship Id="rId16" Type="http://schemas.openxmlformats.org/officeDocument/2006/relationships/image" Target="../media/image47.png"/><Relationship Id="rId1" Type="http://schemas.openxmlformats.org/officeDocument/2006/relationships/slideLayout" Target="../slideLayouts/slideLayout7.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5" Type="http://schemas.openxmlformats.org/officeDocument/2006/relationships/image" Target="../media/image4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s>
</file>

<file path=ppt/slides/_rels/slide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2.png"/></Relationships>
</file>

<file path=ppt/slides/_rels/slide8.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5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55.png"/><Relationship Id="rId4" Type="http://schemas.openxmlformats.org/officeDocument/2006/relationships/image" Target="../media/image54.png"/></Relationships>
</file>

<file path=ppt/slides/_rels/slide9.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55.png"/><Relationship Id="rId4" Type="http://schemas.openxmlformats.org/officeDocument/2006/relationships/image" Target="../media/image54.png"/></Relationships>
</file>

<file path=ppt/slides/_rels/slide1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1.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12.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74.png"/><Relationship Id="rId3" Type="http://schemas.openxmlformats.org/officeDocument/2006/relationships/image" Target="../media/image66.png"/><Relationship Id="rId7" Type="http://schemas.openxmlformats.org/officeDocument/2006/relationships/image" Target="../media/image69.png"/><Relationship Id="rId12" Type="http://schemas.openxmlformats.org/officeDocument/2006/relationships/image" Target="../media/image7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72.png"/><Relationship Id="rId5" Type="http://schemas.openxmlformats.org/officeDocument/2006/relationships/image" Target="../media/image68.png"/><Relationship Id="rId10" Type="http://schemas.openxmlformats.org/officeDocument/2006/relationships/image" Target="../media/image71.png"/><Relationship Id="rId4" Type="http://schemas.openxmlformats.org/officeDocument/2006/relationships/image" Target="../media/image67.png"/><Relationship Id="rId9" Type="http://schemas.openxmlformats.org/officeDocument/2006/relationships/image" Target="../media/image7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85775" y="3551932"/>
            <a:ext cx="11220450" cy="2049660"/>
          </a:xfrm>
          <a:prstGeom prst="rect">
            <a:avLst/>
          </a:prstGeom>
        </p:spPr>
      </p:pic>
      <p:pic>
        <p:nvPicPr>
          <p:cNvPr id="4" name="Picture 3" descr="image.png"/>
          <p:cNvPicPr>
            <a:picLocks noChangeAspect="1"/>
          </p:cNvPicPr>
          <p:nvPr/>
        </p:nvPicPr>
        <p:blipFill>
          <a:blip r:embed="rId4"/>
          <a:stretch>
            <a:fillRect/>
          </a:stretch>
        </p:blipFill>
        <p:spPr>
          <a:xfrm>
            <a:off x="485775" y="2066032"/>
            <a:ext cx="5467350" cy="1257300"/>
          </a:xfrm>
          <a:prstGeom prst="rect">
            <a:avLst/>
          </a:prstGeom>
        </p:spPr>
      </p:pic>
      <p:pic>
        <p:nvPicPr>
          <p:cNvPr id="5" name="Picture 4" descr="image.png"/>
          <p:cNvPicPr>
            <a:picLocks noChangeAspect="1"/>
          </p:cNvPicPr>
          <p:nvPr/>
        </p:nvPicPr>
        <p:blipFill>
          <a:blip r:embed="rId5"/>
          <a:stretch>
            <a:fillRect/>
          </a:stretch>
        </p:blipFill>
        <p:spPr>
          <a:xfrm>
            <a:off x="6238875" y="2066032"/>
            <a:ext cx="5467350" cy="1257300"/>
          </a:xfrm>
          <a:prstGeom prst="rect">
            <a:avLst/>
          </a:prstGeom>
        </p:spPr>
      </p:pic>
      <p:pic>
        <p:nvPicPr>
          <p:cNvPr id="6" name="Picture 5" descr="image.png"/>
          <p:cNvPicPr>
            <a:picLocks noChangeAspect="1"/>
          </p:cNvPicPr>
          <p:nvPr/>
        </p:nvPicPr>
        <p:blipFill>
          <a:blip r:embed="rId6"/>
          <a:stretch>
            <a:fillRect/>
          </a:stretch>
        </p:blipFill>
        <p:spPr>
          <a:xfrm>
            <a:off x="485775" y="6391275"/>
            <a:ext cx="11220450" cy="266700"/>
          </a:xfrm>
          <a:prstGeom prst="rect">
            <a:avLst/>
          </a:prstGeom>
        </p:spPr>
      </p:pic>
      <p:pic>
        <p:nvPicPr>
          <p:cNvPr id="7" name="Picture 6" descr="image.png"/>
          <p:cNvPicPr>
            <a:picLocks noChangeAspect="1"/>
          </p:cNvPicPr>
          <p:nvPr/>
        </p:nvPicPr>
        <p:blipFill>
          <a:blip r:embed="rId7"/>
          <a:stretch>
            <a:fillRect/>
          </a:stretch>
        </p:blipFill>
        <p:spPr>
          <a:xfrm>
            <a:off x="10753725" y="600075"/>
            <a:ext cx="952500" cy="295275"/>
          </a:xfrm>
          <a:prstGeom prst="rect">
            <a:avLst/>
          </a:prstGeom>
        </p:spPr>
      </p:pic>
      <p:sp>
        <p:nvSpPr>
          <p:cNvPr id="8" name="TextBox 7"/>
          <p:cNvSpPr txBox="1"/>
          <p:nvPr/>
        </p:nvSpPr>
        <p:spPr>
          <a:xfrm>
            <a:off x="485775" y="6515100"/>
            <a:ext cx="1857375" cy="142875"/>
          </a:xfrm>
          <a:prstGeom prst="rect">
            <a:avLst/>
          </a:prstGeom>
          <a:noFill/>
        </p:spPr>
        <p:txBody>
          <a:bodyPr wrap="square" lIns="0" tIns="0" rIns="0" bIns="0" anchor="t">
            <a:spAutoFit/>
          </a:bodyPr>
          <a:lstStyle/>
          <a:p>
            <a:pPr algn="l"/>
            <a:r>
              <a:rPr sz="900" b="0" i="0" u="none">
                <a:solidFill>
                  <a:srgbClr val="64748B"/>
                </a:solidFill>
                <a:latin typeface="Lato"/>
              </a:rPr>
              <a:t>Smart Zone — Electronics Retail Store</a:t>
            </a:r>
          </a:p>
        </p:txBody>
      </p:sp>
      <p:sp>
        <p:nvSpPr>
          <p:cNvPr id="9" name="TextBox 8"/>
          <p:cNvSpPr txBox="1"/>
          <p:nvPr/>
        </p:nvSpPr>
        <p:spPr>
          <a:xfrm>
            <a:off x="9934575" y="6515100"/>
            <a:ext cx="1771650" cy="142875"/>
          </a:xfrm>
          <a:prstGeom prst="rect">
            <a:avLst/>
          </a:prstGeom>
          <a:noFill/>
        </p:spPr>
        <p:txBody>
          <a:bodyPr wrap="square" lIns="0" tIns="0" rIns="0" bIns="0" anchor="t">
            <a:spAutoFit/>
          </a:bodyPr>
          <a:lstStyle/>
          <a:p>
            <a:pPr algn="l"/>
            <a:r>
              <a:rPr sz="900" b="0" i="0" u="none">
                <a:solidFill>
                  <a:srgbClr val="64748B"/>
                </a:solidFill>
                <a:latin typeface="Lato"/>
              </a:rPr>
              <a:t>Graduation Project Documentation</a:t>
            </a:r>
          </a:p>
        </p:txBody>
      </p:sp>
      <p:sp>
        <p:nvSpPr>
          <p:cNvPr id="10" name="TextBox 9"/>
          <p:cNvSpPr txBox="1"/>
          <p:nvPr/>
        </p:nvSpPr>
        <p:spPr>
          <a:xfrm>
            <a:off x="762000" y="4228207"/>
            <a:ext cx="10668000" cy="1097160"/>
          </a:xfrm>
          <a:prstGeom prst="rect">
            <a:avLst/>
          </a:prstGeom>
          <a:noFill/>
        </p:spPr>
        <p:txBody>
          <a:bodyPr wrap="square" lIns="0" tIns="0" rIns="0" bIns="0" anchor="t">
            <a:spAutoFit/>
          </a:bodyPr>
          <a:lstStyle/>
          <a:p>
            <a:pPr algn="l">
              <a:lnSpc>
                <a:spcPts val="2160"/>
              </a:lnSpc>
            </a:pPr>
            <a:r>
              <a:rPr sz="1350" b="0" i="0" u="none">
                <a:solidFill>
                  <a:srgbClr val="E2E8F0"/>
                </a:solidFill>
                <a:latin typeface="Lato"/>
              </a:rPr>
              <a:t>The electronics retail store lacks a centralized, data-driven view of its overall business performance. Management faces difficulties in understanding sales trends, customer purchasing behavior, product profitability, store performance, and employee productivity. This makes it challenging to identify areas of strong performance, detect underperforming areas, and make informed decisions to improve sales and profitability.</a:t>
            </a:r>
          </a:p>
        </p:txBody>
      </p:sp>
      <p:sp>
        <p:nvSpPr>
          <p:cNvPr id="11" name="TextBox 10"/>
          <p:cNvSpPr txBox="1"/>
          <p:nvPr/>
        </p:nvSpPr>
        <p:spPr>
          <a:xfrm>
            <a:off x="762000" y="2647057"/>
            <a:ext cx="5160645" cy="400050"/>
          </a:xfrm>
          <a:prstGeom prst="rect">
            <a:avLst/>
          </a:prstGeom>
          <a:noFill/>
        </p:spPr>
        <p:txBody>
          <a:bodyPr wrap="square" lIns="0" tIns="0" rIns="0" bIns="0" anchor="t">
            <a:spAutoFit/>
          </a:bodyPr>
          <a:lstStyle/>
          <a:p>
            <a:pPr algn="l"/>
            <a:r>
              <a:rPr sz="2100" b="0" i="0" u="none">
                <a:solidFill>
                  <a:srgbClr val="F8FAFC"/>
                </a:solidFill>
                <a:latin typeface="Poppins SemiBold"/>
              </a:rPr>
              <a:t>Retail</a:t>
            </a:r>
          </a:p>
        </p:txBody>
      </p:sp>
      <p:sp>
        <p:nvSpPr>
          <p:cNvPr id="12" name="TextBox 11"/>
          <p:cNvSpPr txBox="1"/>
          <p:nvPr/>
        </p:nvSpPr>
        <p:spPr>
          <a:xfrm>
            <a:off x="6515100" y="2647057"/>
            <a:ext cx="5160645" cy="400050"/>
          </a:xfrm>
          <a:prstGeom prst="rect">
            <a:avLst/>
          </a:prstGeom>
          <a:noFill/>
        </p:spPr>
        <p:txBody>
          <a:bodyPr wrap="square" lIns="0" tIns="0" rIns="0" bIns="0" anchor="t">
            <a:spAutoFit/>
          </a:bodyPr>
          <a:lstStyle/>
          <a:p>
            <a:pPr algn="l"/>
            <a:r>
              <a:rPr sz="2100" b="0" i="0" u="none">
                <a:solidFill>
                  <a:srgbClr val="F8FAFC"/>
                </a:solidFill>
                <a:latin typeface="Poppins SemiBold"/>
              </a:rPr>
              <a:t>Electronics Stores</a:t>
            </a:r>
          </a:p>
        </p:txBody>
      </p:sp>
      <p:pic>
        <p:nvPicPr>
          <p:cNvPr id="13" name="Picture 12" descr="image.png"/>
          <p:cNvPicPr>
            <a:picLocks noChangeAspect="1"/>
          </p:cNvPicPr>
          <p:nvPr/>
        </p:nvPicPr>
        <p:blipFill>
          <a:blip r:embed="rId8"/>
          <a:stretch>
            <a:fillRect/>
          </a:stretch>
        </p:blipFill>
        <p:spPr>
          <a:xfrm>
            <a:off x="762000" y="3856732"/>
            <a:ext cx="228600" cy="228600"/>
          </a:xfrm>
          <a:prstGeom prst="rect">
            <a:avLst/>
          </a:prstGeom>
        </p:spPr>
      </p:pic>
      <p:sp>
        <p:nvSpPr>
          <p:cNvPr id="14" name="TextBox 13"/>
          <p:cNvSpPr txBox="1"/>
          <p:nvPr/>
        </p:nvSpPr>
        <p:spPr>
          <a:xfrm>
            <a:off x="1104900" y="3828157"/>
            <a:ext cx="1810226" cy="285750"/>
          </a:xfrm>
          <a:prstGeom prst="rect">
            <a:avLst/>
          </a:prstGeom>
          <a:noFill/>
        </p:spPr>
        <p:txBody>
          <a:bodyPr wrap="square" lIns="0" tIns="0" rIns="0" bIns="0" anchor="t">
            <a:spAutoFit/>
          </a:bodyPr>
          <a:lstStyle/>
          <a:p>
            <a:pPr algn="l"/>
            <a:r>
              <a:rPr sz="1500" b="0" i="0" u="none">
                <a:solidFill>
                  <a:srgbClr val="F87171"/>
                </a:solidFill>
                <a:latin typeface="Poppins SemiBold"/>
              </a:rPr>
              <a:t>Business Problem</a:t>
            </a:r>
          </a:p>
        </p:txBody>
      </p:sp>
      <p:pic>
        <p:nvPicPr>
          <p:cNvPr id="15" name="Picture 14" descr="image.png"/>
          <p:cNvPicPr>
            <a:picLocks noChangeAspect="1"/>
          </p:cNvPicPr>
          <p:nvPr/>
        </p:nvPicPr>
        <p:blipFill>
          <a:blip r:embed="rId9"/>
          <a:stretch>
            <a:fillRect/>
          </a:stretch>
        </p:blipFill>
        <p:spPr>
          <a:xfrm>
            <a:off x="762000" y="2342257"/>
            <a:ext cx="257175" cy="228600"/>
          </a:xfrm>
          <a:prstGeom prst="rect">
            <a:avLst/>
          </a:prstGeom>
        </p:spPr>
      </p:pic>
      <p:sp>
        <p:nvSpPr>
          <p:cNvPr id="16" name="TextBox 15"/>
          <p:cNvSpPr txBox="1"/>
          <p:nvPr/>
        </p:nvSpPr>
        <p:spPr>
          <a:xfrm>
            <a:off x="1133475" y="2361307"/>
            <a:ext cx="1420177" cy="190500"/>
          </a:xfrm>
          <a:prstGeom prst="rect">
            <a:avLst/>
          </a:prstGeom>
          <a:noFill/>
        </p:spPr>
        <p:txBody>
          <a:bodyPr wrap="square" lIns="0" tIns="0" rIns="0" bIns="0" anchor="t">
            <a:spAutoFit/>
          </a:bodyPr>
          <a:lstStyle/>
          <a:p>
            <a:pPr algn="l"/>
            <a:r>
              <a:rPr sz="975" b="1" i="0" u="none">
                <a:solidFill>
                  <a:srgbClr val="94A3B8"/>
                </a:solidFill>
                <a:latin typeface="Poppins"/>
              </a:rPr>
              <a:t>BUSINESS DOMAIN</a:t>
            </a:r>
          </a:p>
        </p:txBody>
      </p:sp>
      <p:pic>
        <p:nvPicPr>
          <p:cNvPr id="17" name="Picture 16" descr="image.png"/>
          <p:cNvPicPr>
            <a:picLocks noChangeAspect="1"/>
          </p:cNvPicPr>
          <p:nvPr/>
        </p:nvPicPr>
        <p:blipFill>
          <a:blip r:embed="rId10"/>
          <a:stretch>
            <a:fillRect/>
          </a:stretch>
        </p:blipFill>
        <p:spPr>
          <a:xfrm>
            <a:off x="6515100" y="2342257"/>
            <a:ext cx="228600" cy="228600"/>
          </a:xfrm>
          <a:prstGeom prst="rect">
            <a:avLst/>
          </a:prstGeom>
        </p:spPr>
      </p:pic>
      <p:sp>
        <p:nvSpPr>
          <p:cNvPr id="18" name="TextBox 17"/>
          <p:cNvSpPr txBox="1"/>
          <p:nvPr/>
        </p:nvSpPr>
        <p:spPr>
          <a:xfrm>
            <a:off x="6858000" y="2361307"/>
            <a:ext cx="1170146" cy="190500"/>
          </a:xfrm>
          <a:prstGeom prst="rect">
            <a:avLst/>
          </a:prstGeom>
          <a:noFill/>
        </p:spPr>
        <p:txBody>
          <a:bodyPr wrap="square" lIns="0" tIns="0" rIns="0" bIns="0" anchor="t">
            <a:spAutoFit/>
          </a:bodyPr>
          <a:lstStyle/>
          <a:p>
            <a:pPr algn="l"/>
            <a:r>
              <a:rPr sz="975" b="1" i="0" u="none">
                <a:solidFill>
                  <a:srgbClr val="94A3B8"/>
                </a:solidFill>
                <a:latin typeface="Poppins"/>
              </a:rPr>
              <a:t>BUSINESS TYPE</a:t>
            </a:r>
          </a:p>
        </p:txBody>
      </p:sp>
      <p:sp>
        <p:nvSpPr>
          <p:cNvPr id="19" name="TextBox 18"/>
          <p:cNvSpPr txBox="1"/>
          <p:nvPr/>
        </p:nvSpPr>
        <p:spPr>
          <a:xfrm>
            <a:off x="485775" y="485775"/>
            <a:ext cx="11706225" cy="523875"/>
          </a:xfrm>
          <a:prstGeom prst="rect">
            <a:avLst/>
          </a:prstGeom>
          <a:noFill/>
        </p:spPr>
        <p:txBody>
          <a:bodyPr wrap="square" lIns="0" tIns="0" rIns="0" bIns="0" anchor="ctr">
            <a:spAutoFit/>
          </a:bodyPr>
          <a:lstStyle/>
          <a:p>
            <a:pPr algn="l"/>
            <a:r>
              <a:rPr sz="2700" b="1" i="0" u="none">
                <a:solidFill>
                  <a:srgbClr val="F8FAFC"/>
                </a:solidFill>
                <a:latin typeface="Poppins"/>
              </a:rPr>
              <a:t>Smart Zone — Overview</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85775" y="2447925"/>
            <a:ext cx="3587650" cy="2771775"/>
          </a:xfrm>
          <a:prstGeom prst="rect">
            <a:avLst/>
          </a:prstGeom>
        </p:spPr>
      </p:pic>
      <p:pic>
        <p:nvPicPr>
          <p:cNvPr id="4" name="Picture 3" descr="image.png"/>
          <p:cNvPicPr>
            <a:picLocks noChangeAspect="1"/>
          </p:cNvPicPr>
          <p:nvPr/>
        </p:nvPicPr>
        <p:blipFill>
          <a:blip r:embed="rId4"/>
          <a:stretch>
            <a:fillRect/>
          </a:stretch>
        </p:blipFill>
        <p:spPr>
          <a:xfrm>
            <a:off x="4302025" y="2447925"/>
            <a:ext cx="3587799" cy="2771775"/>
          </a:xfrm>
          <a:prstGeom prst="rect">
            <a:avLst/>
          </a:prstGeom>
        </p:spPr>
      </p:pic>
      <p:pic>
        <p:nvPicPr>
          <p:cNvPr id="5" name="Picture 4" descr="image.png"/>
          <p:cNvPicPr>
            <a:picLocks noChangeAspect="1"/>
          </p:cNvPicPr>
          <p:nvPr/>
        </p:nvPicPr>
        <p:blipFill>
          <a:blip r:embed="rId5"/>
          <a:stretch>
            <a:fillRect/>
          </a:stretch>
        </p:blipFill>
        <p:spPr>
          <a:xfrm>
            <a:off x="8118425" y="2447925"/>
            <a:ext cx="3587650" cy="2771775"/>
          </a:xfrm>
          <a:prstGeom prst="rect">
            <a:avLst/>
          </a:prstGeom>
        </p:spPr>
      </p:pic>
      <p:pic>
        <p:nvPicPr>
          <p:cNvPr id="6" name="Picture 5" descr="image.png"/>
          <p:cNvPicPr>
            <a:picLocks noChangeAspect="1"/>
          </p:cNvPicPr>
          <p:nvPr/>
        </p:nvPicPr>
        <p:blipFill>
          <a:blip r:embed="rId6"/>
          <a:stretch>
            <a:fillRect/>
          </a:stretch>
        </p:blipFill>
        <p:spPr>
          <a:xfrm>
            <a:off x="485775" y="6391275"/>
            <a:ext cx="11220450" cy="266700"/>
          </a:xfrm>
          <a:prstGeom prst="rect">
            <a:avLst/>
          </a:prstGeom>
        </p:spPr>
      </p:pic>
      <p:pic>
        <p:nvPicPr>
          <p:cNvPr id="7" name="Picture 6" descr="image.png"/>
          <p:cNvPicPr>
            <a:picLocks noChangeAspect="1"/>
          </p:cNvPicPr>
          <p:nvPr/>
        </p:nvPicPr>
        <p:blipFill>
          <a:blip r:embed="rId7"/>
          <a:stretch>
            <a:fillRect/>
          </a:stretch>
        </p:blipFill>
        <p:spPr>
          <a:xfrm>
            <a:off x="10753725" y="600075"/>
            <a:ext cx="952500" cy="295275"/>
          </a:xfrm>
          <a:prstGeom prst="rect">
            <a:avLst/>
          </a:prstGeom>
        </p:spPr>
      </p:pic>
      <p:sp>
        <p:nvSpPr>
          <p:cNvPr id="8" name="TextBox 7"/>
          <p:cNvSpPr txBox="1"/>
          <p:nvPr/>
        </p:nvSpPr>
        <p:spPr>
          <a:xfrm>
            <a:off x="485775" y="6515100"/>
            <a:ext cx="1857375" cy="142875"/>
          </a:xfrm>
          <a:prstGeom prst="rect">
            <a:avLst/>
          </a:prstGeom>
          <a:noFill/>
        </p:spPr>
        <p:txBody>
          <a:bodyPr wrap="square" lIns="0" tIns="0" rIns="0" bIns="0" anchor="t">
            <a:spAutoFit/>
          </a:bodyPr>
          <a:lstStyle/>
          <a:p>
            <a:pPr algn="l"/>
            <a:r>
              <a:rPr sz="900" b="0" i="0" u="none">
                <a:solidFill>
                  <a:srgbClr val="64748B"/>
                </a:solidFill>
                <a:latin typeface="Lato"/>
              </a:rPr>
              <a:t>Smart Zone — Electronics Retail Store</a:t>
            </a:r>
          </a:p>
        </p:txBody>
      </p:sp>
      <p:sp>
        <p:nvSpPr>
          <p:cNvPr id="9" name="TextBox 8"/>
          <p:cNvSpPr txBox="1"/>
          <p:nvPr/>
        </p:nvSpPr>
        <p:spPr>
          <a:xfrm>
            <a:off x="9991725" y="6515100"/>
            <a:ext cx="1714500" cy="142875"/>
          </a:xfrm>
          <a:prstGeom prst="rect">
            <a:avLst/>
          </a:prstGeom>
          <a:noFill/>
        </p:spPr>
        <p:txBody>
          <a:bodyPr wrap="square" lIns="0" tIns="0" rIns="0" bIns="0" anchor="t">
            <a:spAutoFit/>
          </a:bodyPr>
          <a:lstStyle/>
          <a:p>
            <a:pPr algn="l"/>
            <a:r>
              <a:rPr sz="900" b="0" i="0" u="none">
                <a:solidFill>
                  <a:srgbClr val="64748B"/>
                </a:solidFill>
                <a:latin typeface="Lato"/>
              </a:rPr>
              <a:t>Requirements Engineering (Part 1)</a:t>
            </a:r>
          </a:p>
        </p:txBody>
      </p:sp>
      <p:pic>
        <p:nvPicPr>
          <p:cNvPr id="10" name="Picture 9" descr="image.png"/>
          <p:cNvPicPr>
            <a:picLocks noChangeAspect="1"/>
          </p:cNvPicPr>
          <p:nvPr/>
        </p:nvPicPr>
        <p:blipFill>
          <a:blip r:embed="rId8"/>
          <a:stretch>
            <a:fillRect/>
          </a:stretch>
        </p:blipFill>
        <p:spPr>
          <a:xfrm>
            <a:off x="723900" y="2686050"/>
            <a:ext cx="476250" cy="476250"/>
          </a:xfrm>
          <a:prstGeom prst="rect">
            <a:avLst/>
          </a:prstGeom>
        </p:spPr>
      </p:pic>
      <p:sp>
        <p:nvSpPr>
          <p:cNvPr id="11" name="TextBox 10"/>
          <p:cNvSpPr txBox="1"/>
          <p:nvPr/>
        </p:nvSpPr>
        <p:spPr>
          <a:xfrm>
            <a:off x="723900" y="3314700"/>
            <a:ext cx="3266970" cy="314325"/>
          </a:xfrm>
          <a:prstGeom prst="rect">
            <a:avLst/>
          </a:prstGeom>
          <a:noFill/>
        </p:spPr>
        <p:txBody>
          <a:bodyPr wrap="square" lIns="0" tIns="0" rIns="0" bIns="0" anchor="t">
            <a:spAutoFit/>
          </a:bodyPr>
          <a:lstStyle/>
          <a:p>
            <a:pPr algn="l"/>
            <a:r>
              <a:rPr sz="1650" b="0" i="0" u="none">
                <a:solidFill>
                  <a:srgbClr val="38BDF8"/>
                </a:solidFill>
                <a:latin typeface="Poppins SemiBold"/>
              </a:rPr>
              <a:t>1. Sales Performance</a:t>
            </a:r>
          </a:p>
        </p:txBody>
      </p:sp>
      <p:pic>
        <p:nvPicPr>
          <p:cNvPr id="12" name="Picture 11" descr="image.png"/>
          <p:cNvPicPr>
            <a:picLocks noChangeAspect="1"/>
          </p:cNvPicPr>
          <p:nvPr/>
        </p:nvPicPr>
        <p:blipFill>
          <a:blip r:embed="rId9"/>
          <a:stretch>
            <a:fillRect/>
          </a:stretch>
        </p:blipFill>
        <p:spPr>
          <a:xfrm>
            <a:off x="4540150" y="2686050"/>
            <a:ext cx="476250" cy="476250"/>
          </a:xfrm>
          <a:prstGeom prst="rect">
            <a:avLst/>
          </a:prstGeom>
        </p:spPr>
      </p:pic>
      <p:sp>
        <p:nvSpPr>
          <p:cNvPr id="13" name="TextBox 12"/>
          <p:cNvSpPr txBox="1"/>
          <p:nvPr/>
        </p:nvSpPr>
        <p:spPr>
          <a:xfrm>
            <a:off x="4540150" y="3314700"/>
            <a:ext cx="3267127" cy="314325"/>
          </a:xfrm>
          <a:prstGeom prst="rect">
            <a:avLst/>
          </a:prstGeom>
          <a:noFill/>
        </p:spPr>
        <p:txBody>
          <a:bodyPr wrap="square" lIns="0" tIns="0" rIns="0" bIns="0" anchor="t">
            <a:spAutoFit/>
          </a:bodyPr>
          <a:lstStyle/>
          <a:p>
            <a:pPr algn="l"/>
            <a:r>
              <a:rPr sz="1650" b="0" i="0" u="none">
                <a:solidFill>
                  <a:srgbClr val="38BDF8"/>
                </a:solidFill>
                <a:latin typeface="Poppins SemiBold"/>
              </a:rPr>
              <a:t>2. Customer Analysis</a:t>
            </a:r>
          </a:p>
        </p:txBody>
      </p:sp>
      <p:pic>
        <p:nvPicPr>
          <p:cNvPr id="14" name="Picture 13" descr="image.png"/>
          <p:cNvPicPr>
            <a:picLocks noChangeAspect="1"/>
          </p:cNvPicPr>
          <p:nvPr/>
        </p:nvPicPr>
        <p:blipFill>
          <a:blip r:embed="rId10"/>
          <a:stretch>
            <a:fillRect/>
          </a:stretch>
        </p:blipFill>
        <p:spPr>
          <a:xfrm>
            <a:off x="8356550" y="2686050"/>
            <a:ext cx="476250" cy="476250"/>
          </a:xfrm>
          <a:prstGeom prst="rect">
            <a:avLst/>
          </a:prstGeom>
        </p:spPr>
      </p:pic>
      <p:sp>
        <p:nvSpPr>
          <p:cNvPr id="15" name="TextBox 14"/>
          <p:cNvSpPr txBox="1"/>
          <p:nvPr/>
        </p:nvSpPr>
        <p:spPr>
          <a:xfrm>
            <a:off x="8356550" y="3314700"/>
            <a:ext cx="3266970" cy="314325"/>
          </a:xfrm>
          <a:prstGeom prst="rect">
            <a:avLst/>
          </a:prstGeom>
          <a:noFill/>
        </p:spPr>
        <p:txBody>
          <a:bodyPr wrap="square" lIns="0" tIns="0" rIns="0" bIns="0" anchor="t">
            <a:spAutoFit/>
          </a:bodyPr>
          <a:lstStyle/>
          <a:p>
            <a:pPr algn="l"/>
            <a:r>
              <a:rPr sz="1650" b="0" i="0" u="none">
                <a:solidFill>
                  <a:srgbClr val="38BDF8"/>
                </a:solidFill>
                <a:latin typeface="Poppins SemiBold"/>
              </a:rPr>
              <a:t>3. Product Profitability</a:t>
            </a:r>
          </a:p>
        </p:txBody>
      </p:sp>
      <p:pic>
        <p:nvPicPr>
          <p:cNvPr id="16" name="Picture 15" descr="image.png"/>
          <p:cNvPicPr>
            <a:picLocks noChangeAspect="1"/>
          </p:cNvPicPr>
          <p:nvPr/>
        </p:nvPicPr>
        <p:blipFill>
          <a:blip r:embed="rId11"/>
          <a:stretch>
            <a:fillRect/>
          </a:stretch>
        </p:blipFill>
        <p:spPr>
          <a:xfrm>
            <a:off x="809625" y="2771775"/>
            <a:ext cx="304800" cy="304800"/>
          </a:xfrm>
          <a:prstGeom prst="rect">
            <a:avLst/>
          </a:prstGeom>
        </p:spPr>
      </p:pic>
      <p:pic>
        <p:nvPicPr>
          <p:cNvPr id="17" name="Picture 16" descr="image.png"/>
          <p:cNvPicPr>
            <a:picLocks noChangeAspect="1"/>
          </p:cNvPicPr>
          <p:nvPr/>
        </p:nvPicPr>
        <p:blipFill>
          <a:blip r:embed="rId12"/>
          <a:stretch>
            <a:fillRect/>
          </a:stretch>
        </p:blipFill>
        <p:spPr>
          <a:xfrm>
            <a:off x="4587775" y="2771775"/>
            <a:ext cx="381000" cy="304800"/>
          </a:xfrm>
          <a:prstGeom prst="rect">
            <a:avLst/>
          </a:prstGeom>
        </p:spPr>
      </p:pic>
      <p:pic>
        <p:nvPicPr>
          <p:cNvPr id="18" name="Picture 17" descr="image.png"/>
          <p:cNvPicPr>
            <a:picLocks noChangeAspect="1"/>
          </p:cNvPicPr>
          <p:nvPr/>
        </p:nvPicPr>
        <p:blipFill>
          <a:blip r:embed="rId13"/>
          <a:stretch>
            <a:fillRect/>
          </a:stretch>
        </p:blipFill>
        <p:spPr>
          <a:xfrm>
            <a:off x="8404175" y="2771775"/>
            <a:ext cx="381000" cy="304800"/>
          </a:xfrm>
          <a:prstGeom prst="rect">
            <a:avLst/>
          </a:prstGeom>
        </p:spPr>
      </p:pic>
      <p:sp>
        <p:nvSpPr>
          <p:cNvPr id="19" name="TextBox 18"/>
          <p:cNvSpPr txBox="1"/>
          <p:nvPr/>
        </p:nvSpPr>
        <p:spPr>
          <a:xfrm>
            <a:off x="1028700" y="3743325"/>
            <a:ext cx="2806600" cy="485775"/>
          </a:xfrm>
          <a:prstGeom prst="rect">
            <a:avLst/>
          </a:prstGeom>
          <a:noFill/>
        </p:spPr>
        <p:txBody>
          <a:bodyPr wrap="square" lIns="0" tIns="0" rIns="0" bIns="0" anchor="t">
            <a:spAutoFit/>
          </a:bodyPr>
          <a:lstStyle/>
          <a:p>
            <a:pPr algn="l">
              <a:lnSpc>
                <a:spcPts val="1912"/>
              </a:lnSpc>
            </a:pPr>
            <a:r>
              <a:rPr sz="1275" b="0" i="0" u="none">
                <a:solidFill>
                  <a:srgbClr val="CBD5E1"/>
                </a:solidFill>
                <a:latin typeface="Lato"/>
              </a:rPr>
              <a:t>What are the total sales and how do they change over time?</a:t>
            </a:r>
          </a:p>
        </p:txBody>
      </p:sp>
      <p:sp>
        <p:nvSpPr>
          <p:cNvPr id="20" name="TextBox 19"/>
          <p:cNvSpPr txBox="1"/>
          <p:nvPr/>
        </p:nvSpPr>
        <p:spPr>
          <a:xfrm>
            <a:off x="1028700" y="4362450"/>
            <a:ext cx="2806600" cy="485775"/>
          </a:xfrm>
          <a:prstGeom prst="rect">
            <a:avLst/>
          </a:prstGeom>
          <a:noFill/>
        </p:spPr>
        <p:txBody>
          <a:bodyPr wrap="square" lIns="0" tIns="0" rIns="0" bIns="0" anchor="t">
            <a:spAutoFit/>
          </a:bodyPr>
          <a:lstStyle/>
          <a:p>
            <a:pPr algn="l">
              <a:lnSpc>
                <a:spcPts val="1912"/>
              </a:lnSpc>
            </a:pPr>
            <a:r>
              <a:rPr sz="1275" b="0" i="0" u="none">
                <a:solidFill>
                  <a:srgbClr val="CBD5E1"/>
                </a:solidFill>
                <a:latin typeface="Lato"/>
              </a:rPr>
              <a:t>Which periods generate the highest and lowest sales?</a:t>
            </a:r>
          </a:p>
        </p:txBody>
      </p:sp>
      <p:sp>
        <p:nvSpPr>
          <p:cNvPr id="21" name="TextBox 20"/>
          <p:cNvSpPr txBox="1"/>
          <p:nvPr/>
        </p:nvSpPr>
        <p:spPr>
          <a:xfrm>
            <a:off x="4844950" y="3743325"/>
            <a:ext cx="2806749" cy="485775"/>
          </a:xfrm>
          <a:prstGeom prst="rect">
            <a:avLst/>
          </a:prstGeom>
          <a:noFill/>
        </p:spPr>
        <p:txBody>
          <a:bodyPr wrap="square" lIns="0" tIns="0" rIns="0" bIns="0" anchor="t">
            <a:spAutoFit/>
          </a:bodyPr>
          <a:lstStyle/>
          <a:p>
            <a:pPr algn="l">
              <a:lnSpc>
                <a:spcPts val="1912"/>
              </a:lnSpc>
            </a:pPr>
            <a:r>
              <a:rPr sz="1275" b="0" i="0" u="none">
                <a:solidFill>
                  <a:srgbClr val="CBD5E1"/>
                </a:solidFill>
                <a:latin typeface="Lato"/>
              </a:rPr>
              <a:t>Who are the highest-value customers based on total spending?</a:t>
            </a:r>
          </a:p>
        </p:txBody>
      </p:sp>
      <p:sp>
        <p:nvSpPr>
          <p:cNvPr id="22" name="TextBox 21"/>
          <p:cNvSpPr txBox="1"/>
          <p:nvPr/>
        </p:nvSpPr>
        <p:spPr>
          <a:xfrm>
            <a:off x="4844950" y="4362450"/>
            <a:ext cx="2806749" cy="485775"/>
          </a:xfrm>
          <a:prstGeom prst="rect">
            <a:avLst/>
          </a:prstGeom>
          <a:noFill/>
        </p:spPr>
        <p:txBody>
          <a:bodyPr wrap="square" lIns="0" tIns="0" rIns="0" bIns="0" anchor="t">
            <a:spAutoFit/>
          </a:bodyPr>
          <a:lstStyle/>
          <a:p>
            <a:pPr algn="l">
              <a:lnSpc>
                <a:spcPts val="1912"/>
              </a:lnSpc>
            </a:pPr>
            <a:r>
              <a:rPr sz="1275" b="0" i="0" u="none">
                <a:solidFill>
                  <a:srgbClr val="CBD5E1"/>
                </a:solidFill>
                <a:latin typeface="Lato"/>
              </a:rPr>
              <a:t>Which customer segments contribute the most to sales?</a:t>
            </a:r>
          </a:p>
        </p:txBody>
      </p:sp>
      <p:sp>
        <p:nvSpPr>
          <p:cNvPr id="23" name="TextBox 22"/>
          <p:cNvSpPr txBox="1"/>
          <p:nvPr/>
        </p:nvSpPr>
        <p:spPr>
          <a:xfrm>
            <a:off x="8661350" y="3743325"/>
            <a:ext cx="2806600" cy="485775"/>
          </a:xfrm>
          <a:prstGeom prst="rect">
            <a:avLst/>
          </a:prstGeom>
          <a:noFill/>
        </p:spPr>
        <p:txBody>
          <a:bodyPr wrap="square" lIns="0" tIns="0" rIns="0" bIns="0" anchor="t">
            <a:spAutoFit/>
          </a:bodyPr>
          <a:lstStyle/>
          <a:p>
            <a:pPr algn="l">
              <a:lnSpc>
                <a:spcPts val="1912"/>
              </a:lnSpc>
            </a:pPr>
            <a:r>
              <a:rPr sz="1275" b="0" i="0" u="none">
                <a:solidFill>
                  <a:srgbClr val="CBD5E1"/>
                </a:solidFill>
                <a:latin typeface="Lato"/>
              </a:rPr>
              <a:t>Which products generate the highest sales and quantities sold?</a:t>
            </a:r>
          </a:p>
        </p:txBody>
      </p:sp>
      <p:sp>
        <p:nvSpPr>
          <p:cNvPr id="24" name="TextBox 23"/>
          <p:cNvSpPr txBox="1"/>
          <p:nvPr/>
        </p:nvSpPr>
        <p:spPr>
          <a:xfrm>
            <a:off x="8661350" y="4362450"/>
            <a:ext cx="2806600" cy="485775"/>
          </a:xfrm>
          <a:prstGeom prst="rect">
            <a:avLst/>
          </a:prstGeom>
          <a:noFill/>
        </p:spPr>
        <p:txBody>
          <a:bodyPr wrap="square" lIns="0" tIns="0" rIns="0" bIns="0" anchor="t">
            <a:spAutoFit/>
          </a:bodyPr>
          <a:lstStyle/>
          <a:p>
            <a:pPr algn="l">
              <a:lnSpc>
                <a:spcPts val="1912"/>
              </a:lnSpc>
            </a:pPr>
            <a:r>
              <a:rPr sz="1275" b="0" i="0" u="none">
                <a:solidFill>
                  <a:srgbClr val="CBD5E1"/>
                </a:solidFill>
                <a:latin typeface="Lato"/>
              </a:rPr>
              <a:t>Which products and categories are the most profitable?</a:t>
            </a:r>
          </a:p>
        </p:txBody>
      </p:sp>
      <p:pic>
        <p:nvPicPr>
          <p:cNvPr id="25" name="Picture 24" descr="image.png"/>
          <p:cNvPicPr>
            <a:picLocks noChangeAspect="1"/>
          </p:cNvPicPr>
          <p:nvPr/>
        </p:nvPicPr>
        <p:blipFill>
          <a:blip r:embed="rId14"/>
          <a:stretch>
            <a:fillRect/>
          </a:stretch>
        </p:blipFill>
        <p:spPr>
          <a:xfrm>
            <a:off x="723900" y="3767137"/>
            <a:ext cx="171450" cy="180975"/>
          </a:xfrm>
          <a:prstGeom prst="rect">
            <a:avLst/>
          </a:prstGeom>
        </p:spPr>
      </p:pic>
      <p:pic>
        <p:nvPicPr>
          <p:cNvPr id="26" name="Picture 25" descr="image.png"/>
          <p:cNvPicPr>
            <a:picLocks noChangeAspect="1"/>
          </p:cNvPicPr>
          <p:nvPr/>
        </p:nvPicPr>
        <p:blipFill>
          <a:blip r:embed="rId14"/>
          <a:stretch>
            <a:fillRect/>
          </a:stretch>
        </p:blipFill>
        <p:spPr>
          <a:xfrm>
            <a:off x="723900" y="4386262"/>
            <a:ext cx="171450" cy="180975"/>
          </a:xfrm>
          <a:prstGeom prst="rect">
            <a:avLst/>
          </a:prstGeom>
        </p:spPr>
      </p:pic>
      <p:pic>
        <p:nvPicPr>
          <p:cNvPr id="27" name="Picture 26" descr="image.png"/>
          <p:cNvPicPr>
            <a:picLocks noChangeAspect="1"/>
          </p:cNvPicPr>
          <p:nvPr/>
        </p:nvPicPr>
        <p:blipFill>
          <a:blip r:embed="rId14"/>
          <a:stretch>
            <a:fillRect/>
          </a:stretch>
        </p:blipFill>
        <p:spPr>
          <a:xfrm>
            <a:off x="4540150" y="3767137"/>
            <a:ext cx="171450" cy="180975"/>
          </a:xfrm>
          <a:prstGeom prst="rect">
            <a:avLst/>
          </a:prstGeom>
        </p:spPr>
      </p:pic>
      <p:pic>
        <p:nvPicPr>
          <p:cNvPr id="28" name="Picture 27" descr="image.png"/>
          <p:cNvPicPr>
            <a:picLocks noChangeAspect="1"/>
          </p:cNvPicPr>
          <p:nvPr/>
        </p:nvPicPr>
        <p:blipFill>
          <a:blip r:embed="rId14"/>
          <a:stretch>
            <a:fillRect/>
          </a:stretch>
        </p:blipFill>
        <p:spPr>
          <a:xfrm>
            <a:off x="4540150" y="4386262"/>
            <a:ext cx="171450" cy="180975"/>
          </a:xfrm>
          <a:prstGeom prst="rect">
            <a:avLst/>
          </a:prstGeom>
        </p:spPr>
      </p:pic>
      <p:pic>
        <p:nvPicPr>
          <p:cNvPr id="29" name="Picture 28" descr="image.png"/>
          <p:cNvPicPr>
            <a:picLocks noChangeAspect="1"/>
          </p:cNvPicPr>
          <p:nvPr/>
        </p:nvPicPr>
        <p:blipFill>
          <a:blip r:embed="rId14"/>
          <a:stretch>
            <a:fillRect/>
          </a:stretch>
        </p:blipFill>
        <p:spPr>
          <a:xfrm>
            <a:off x="8356550" y="3767137"/>
            <a:ext cx="171450" cy="180975"/>
          </a:xfrm>
          <a:prstGeom prst="rect">
            <a:avLst/>
          </a:prstGeom>
        </p:spPr>
      </p:pic>
      <p:pic>
        <p:nvPicPr>
          <p:cNvPr id="30" name="Picture 29" descr="image.png"/>
          <p:cNvPicPr>
            <a:picLocks noChangeAspect="1"/>
          </p:cNvPicPr>
          <p:nvPr/>
        </p:nvPicPr>
        <p:blipFill>
          <a:blip r:embed="rId14"/>
          <a:stretch>
            <a:fillRect/>
          </a:stretch>
        </p:blipFill>
        <p:spPr>
          <a:xfrm>
            <a:off x="8356550" y="4386262"/>
            <a:ext cx="171450" cy="180975"/>
          </a:xfrm>
          <a:prstGeom prst="rect">
            <a:avLst/>
          </a:prstGeom>
        </p:spPr>
      </p:pic>
      <p:sp>
        <p:nvSpPr>
          <p:cNvPr id="31" name="TextBox 30"/>
          <p:cNvSpPr txBox="1"/>
          <p:nvPr/>
        </p:nvSpPr>
        <p:spPr>
          <a:xfrm>
            <a:off x="485775" y="485775"/>
            <a:ext cx="11706225" cy="523875"/>
          </a:xfrm>
          <a:prstGeom prst="rect">
            <a:avLst/>
          </a:prstGeom>
          <a:noFill/>
        </p:spPr>
        <p:txBody>
          <a:bodyPr wrap="square" lIns="0" tIns="0" rIns="0" bIns="0" anchor="ctr">
            <a:spAutoFit/>
          </a:bodyPr>
          <a:lstStyle/>
          <a:p>
            <a:pPr algn="l"/>
            <a:r>
              <a:rPr sz="2700" b="1" i="0" u="none">
                <a:solidFill>
                  <a:srgbClr val="F8FAFC"/>
                </a:solidFill>
                <a:latin typeface="Poppins"/>
              </a:rPr>
              <a:t>Business Requirements &amp; Questions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85775" y="2447925"/>
            <a:ext cx="3587650" cy="2771775"/>
          </a:xfrm>
          <a:prstGeom prst="rect">
            <a:avLst/>
          </a:prstGeom>
        </p:spPr>
      </p:pic>
      <p:pic>
        <p:nvPicPr>
          <p:cNvPr id="4" name="Picture 3" descr="image.png"/>
          <p:cNvPicPr>
            <a:picLocks noChangeAspect="1"/>
          </p:cNvPicPr>
          <p:nvPr/>
        </p:nvPicPr>
        <p:blipFill>
          <a:blip r:embed="rId4"/>
          <a:stretch>
            <a:fillRect/>
          </a:stretch>
        </p:blipFill>
        <p:spPr>
          <a:xfrm>
            <a:off x="4302025" y="2447925"/>
            <a:ext cx="3587799" cy="2771775"/>
          </a:xfrm>
          <a:prstGeom prst="rect">
            <a:avLst/>
          </a:prstGeom>
        </p:spPr>
      </p:pic>
      <p:pic>
        <p:nvPicPr>
          <p:cNvPr id="5" name="Picture 4" descr="image.png"/>
          <p:cNvPicPr>
            <a:picLocks noChangeAspect="1"/>
          </p:cNvPicPr>
          <p:nvPr/>
        </p:nvPicPr>
        <p:blipFill>
          <a:blip r:embed="rId5"/>
          <a:stretch>
            <a:fillRect/>
          </a:stretch>
        </p:blipFill>
        <p:spPr>
          <a:xfrm>
            <a:off x="8118425" y="2447925"/>
            <a:ext cx="3587650" cy="2771775"/>
          </a:xfrm>
          <a:prstGeom prst="rect">
            <a:avLst/>
          </a:prstGeom>
        </p:spPr>
      </p:pic>
      <p:pic>
        <p:nvPicPr>
          <p:cNvPr id="6" name="Picture 5" descr="image.png"/>
          <p:cNvPicPr>
            <a:picLocks noChangeAspect="1"/>
          </p:cNvPicPr>
          <p:nvPr/>
        </p:nvPicPr>
        <p:blipFill>
          <a:blip r:embed="rId6"/>
          <a:stretch>
            <a:fillRect/>
          </a:stretch>
        </p:blipFill>
        <p:spPr>
          <a:xfrm>
            <a:off x="485775" y="6391275"/>
            <a:ext cx="11220450" cy="266700"/>
          </a:xfrm>
          <a:prstGeom prst="rect">
            <a:avLst/>
          </a:prstGeom>
        </p:spPr>
      </p:pic>
      <p:pic>
        <p:nvPicPr>
          <p:cNvPr id="7" name="Picture 6" descr="image.png"/>
          <p:cNvPicPr>
            <a:picLocks noChangeAspect="1"/>
          </p:cNvPicPr>
          <p:nvPr/>
        </p:nvPicPr>
        <p:blipFill>
          <a:blip r:embed="rId7"/>
          <a:stretch>
            <a:fillRect/>
          </a:stretch>
        </p:blipFill>
        <p:spPr>
          <a:xfrm>
            <a:off x="10753725" y="600075"/>
            <a:ext cx="952500" cy="295275"/>
          </a:xfrm>
          <a:prstGeom prst="rect">
            <a:avLst/>
          </a:prstGeom>
        </p:spPr>
      </p:pic>
      <p:sp>
        <p:nvSpPr>
          <p:cNvPr id="8" name="TextBox 7"/>
          <p:cNvSpPr txBox="1"/>
          <p:nvPr/>
        </p:nvSpPr>
        <p:spPr>
          <a:xfrm>
            <a:off x="485775" y="6515100"/>
            <a:ext cx="1857375" cy="142875"/>
          </a:xfrm>
          <a:prstGeom prst="rect">
            <a:avLst/>
          </a:prstGeom>
          <a:noFill/>
        </p:spPr>
        <p:txBody>
          <a:bodyPr wrap="square" lIns="0" tIns="0" rIns="0" bIns="0" anchor="t">
            <a:spAutoFit/>
          </a:bodyPr>
          <a:lstStyle/>
          <a:p>
            <a:pPr algn="l"/>
            <a:r>
              <a:rPr sz="900" b="0" i="0" u="none">
                <a:solidFill>
                  <a:srgbClr val="64748B"/>
                </a:solidFill>
                <a:latin typeface="Lato"/>
              </a:rPr>
              <a:t>Smart Zone — Electronics Retail Store</a:t>
            </a:r>
          </a:p>
        </p:txBody>
      </p:sp>
      <p:sp>
        <p:nvSpPr>
          <p:cNvPr id="9" name="TextBox 8"/>
          <p:cNvSpPr txBox="1"/>
          <p:nvPr/>
        </p:nvSpPr>
        <p:spPr>
          <a:xfrm>
            <a:off x="9991725" y="6515100"/>
            <a:ext cx="1714500" cy="142875"/>
          </a:xfrm>
          <a:prstGeom prst="rect">
            <a:avLst/>
          </a:prstGeom>
          <a:noFill/>
        </p:spPr>
        <p:txBody>
          <a:bodyPr wrap="square" lIns="0" tIns="0" rIns="0" bIns="0" anchor="t">
            <a:spAutoFit/>
          </a:bodyPr>
          <a:lstStyle/>
          <a:p>
            <a:pPr algn="l"/>
            <a:r>
              <a:rPr sz="900" b="0" i="0" u="none">
                <a:solidFill>
                  <a:srgbClr val="64748B"/>
                </a:solidFill>
                <a:latin typeface="Lato"/>
              </a:rPr>
              <a:t>Requirements Engineering (Part 2)</a:t>
            </a:r>
          </a:p>
        </p:txBody>
      </p:sp>
      <p:pic>
        <p:nvPicPr>
          <p:cNvPr id="10" name="Picture 9" descr="image.png"/>
          <p:cNvPicPr>
            <a:picLocks noChangeAspect="1"/>
          </p:cNvPicPr>
          <p:nvPr/>
        </p:nvPicPr>
        <p:blipFill>
          <a:blip r:embed="rId8"/>
          <a:stretch>
            <a:fillRect/>
          </a:stretch>
        </p:blipFill>
        <p:spPr>
          <a:xfrm>
            <a:off x="723900" y="2686050"/>
            <a:ext cx="476250" cy="476250"/>
          </a:xfrm>
          <a:prstGeom prst="rect">
            <a:avLst/>
          </a:prstGeom>
        </p:spPr>
      </p:pic>
      <p:sp>
        <p:nvSpPr>
          <p:cNvPr id="11" name="TextBox 10"/>
          <p:cNvSpPr txBox="1"/>
          <p:nvPr/>
        </p:nvSpPr>
        <p:spPr>
          <a:xfrm>
            <a:off x="723900" y="3314700"/>
            <a:ext cx="3266970" cy="314325"/>
          </a:xfrm>
          <a:prstGeom prst="rect">
            <a:avLst/>
          </a:prstGeom>
          <a:noFill/>
        </p:spPr>
        <p:txBody>
          <a:bodyPr wrap="square" lIns="0" tIns="0" rIns="0" bIns="0" anchor="t">
            <a:spAutoFit/>
          </a:bodyPr>
          <a:lstStyle/>
          <a:p>
            <a:pPr algn="l"/>
            <a:r>
              <a:rPr sz="1650" b="0" i="0" u="none">
                <a:solidFill>
                  <a:srgbClr val="38BDF8"/>
                </a:solidFill>
                <a:latin typeface="Poppins SemiBold"/>
              </a:rPr>
              <a:t>4. Store Performance</a:t>
            </a:r>
          </a:p>
        </p:txBody>
      </p:sp>
      <p:pic>
        <p:nvPicPr>
          <p:cNvPr id="12" name="Picture 11" descr="image.png"/>
          <p:cNvPicPr>
            <a:picLocks noChangeAspect="1"/>
          </p:cNvPicPr>
          <p:nvPr/>
        </p:nvPicPr>
        <p:blipFill>
          <a:blip r:embed="rId9"/>
          <a:stretch>
            <a:fillRect/>
          </a:stretch>
        </p:blipFill>
        <p:spPr>
          <a:xfrm>
            <a:off x="4540150" y="2686050"/>
            <a:ext cx="476250" cy="476250"/>
          </a:xfrm>
          <a:prstGeom prst="rect">
            <a:avLst/>
          </a:prstGeom>
        </p:spPr>
      </p:pic>
      <p:sp>
        <p:nvSpPr>
          <p:cNvPr id="13" name="TextBox 12"/>
          <p:cNvSpPr txBox="1"/>
          <p:nvPr/>
        </p:nvSpPr>
        <p:spPr>
          <a:xfrm>
            <a:off x="4540150" y="3314700"/>
            <a:ext cx="3267127" cy="314325"/>
          </a:xfrm>
          <a:prstGeom prst="rect">
            <a:avLst/>
          </a:prstGeom>
          <a:noFill/>
        </p:spPr>
        <p:txBody>
          <a:bodyPr wrap="square" lIns="0" tIns="0" rIns="0" bIns="0" anchor="t">
            <a:spAutoFit/>
          </a:bodyPr>
          <a:lstStyle/>
          <a:p>
            <a:pPr algn="l"/>
            <a:r>
              <a:rPr sz="1650" b="0" i="0" u="none">
                <a:solidFill>
                  <a:srgbClr val="38BDF8"/>
                </a:solidFill>
                <a:latin typeface="Poppins SemiBold"/>
              </a:rPr>
              <a:t>5. Employee Performance</a:t>
            </a:r>
          </a:p>
        </p:txBody>
      </p:sp>
      <p:pic>
        <p:nvPicPr>
          <p:cNvPr id="14" name="Picture 13" descr="image.png"/>
          <p:cNvPicPr>
            <a:picLocks noChangeAspect="1"/>
          </p:cNvPicPr>
          <p:nvPr/>
        </p:nvPicPr>
        <p:blipFill>
          <a:blip r:embed="rId10"/>
          <a:stretch>
            <a:fillRect/>
          </a:stretch>
        </p:blipFill>
        <p:spPr>
          <a:xfrm>
            <a:off x="8356550" y="2686050"/>
            <a:ext cx="476250" cy="476250"/>
          </a:xfrm>
          <a:prstGeom prst="rect">
            <a:avLst/>
          </a:prstGeom>
        </p:spPr>
      </p:pic>
      <p:sp>
        <p:nvSpPr>
          <p:cNvPr id="15" name="TextBox 14"/>
          <p:cNvSpPr txBox="1"/>
          <p:nvPr/>
        </p:nvSpPr>
        <p:spPr>
          <a:xfrm>
            <a:off x="8356550" y="3314700"/>
            <a:ext cx="3266970" cy="314325"/>
          </a:xfrm>
          <a:prstGeom prst="rect">
            <a:avLst/>
          </a:prstGeom>
          <a:noFill/>
        </p:spPr>
        <p:txBody>
          <a:bodyPr wrap="square" lIns="0" tIns="0" rIns="0" bIns="0" anchor="t">
            <a:spAutoFit/>
          </a:bodyPr>
          <a:lstStyle/>
          <a:p>
            <a:pPr algn="l"/>
            <a:r>
              <a:rPr sz="1650" b="0" i="0" u="none">
                <a:solidFill>
                  <a:srgbClr val="38BDF8"/>
                </a:solidFill>
                <a:latin typeface="Poppins SemiBold"/>
              </a:rPr>
              <a:t>6. Business Improvement</a:t>
            </a:r>
          </a:p>
        </p:txBody>
      </p:sp>
      <p:pic>
        <p:nvPicPr>
          <p:cNvPr id="16" name="Picture 15" descr="image.png"/>
          <p:cNvPicPr>
            <a:picLocks noChangeAspect="1"/>
          </p:cNvPicPr>
          <p:nvPr/>
        </p:nvPicPr>
        <p:blipFill>
          <a:blip r:embed="rId11"/>
          <a:stretch>
            <a:fillRect/>
          </a:stretch>
        </p:blipFill>
        <p:spPr>
          <a:xfrm>
            <a:off x="790575" y="2771775"/>
            <a:ext cx="342900" cy="304800"/>
          </a:xfrm>
          <a:prstGeom prst="rect">
            <a:avLst/>
          </a:prstGeom>
        </p:spPr>
      </p:pic>
      <p:pic>
        <p:nvPicPr>
          <p:cNvPr id="17" name="Picture 16" descr="image.png"/>
          <p:cNvPicPr>
            <a:picLocks noChangeAspect="1"/>
          </p:cNvPicPr>
          <p:nvPr/>
        </p:nvPicPr>
        <p:blipFill>
          <a:blip r:embed="rId12"/>
          <a:stretch>
            <a:fillRect/>
          </a:stretch>
        </p:blipFill>
        <p:spPr>
          <a:xfrm>
            <a:off x="4606825" y="2771775"/>
            <a:ext cx="342900" cy="304800"/>
          </a:xfrm>
          <a:prstGeom prst="rect">
            <a:avLst/>
          </a:prstGeom>
        </p:spPr>
      </p:pic>
      <p:pic>
        <p:nvPicPr>
          <p:cNvPr id="18" name="Picture 17" descr="image.png"/>
          <p:cNvPicPr>
            <a:picLocks noChangeAspect="1"/>
          </p:cNvPicPr>
          <p:nvPr/>
        </p:nvPicPr>
        <p:blipFill>
          <a:blip r:embed="rId13"/>
          <a:stretch>
            <a:fillRect/>
          </a:stretch>
        </p:blipFill>
        <p:spPr>
          <a:xfrm>
            <a:off x="8480375" y="2771775"/>
            <a:ext cx="228600" cy="304800"/>
          </a:xfrm>
          <a:prstGeom prst="rect">
            <a:avLst/>
          </a:prstGeom>
        </p:spPr>
      </p:pic>
      <p:sp>
        <p:nvSpPr>
          <p:cNvPr id="19" name="TextBox 18"/>
          <p:cNvSpPr txBox="1"/>
          <p:nvPr/>
        </p:nvSpPr>
        <p:spPr>
          <a:xfrm>
            <a:off x="1028700" y="3743325"/>
            <a:ext cx="2806600" cy="485775"/>
          </a:xfrm>
          <a:prstGeom prst="rect">
            <a:avLst/>
          </a:prstGeom>
          <a:noFill/>
        </p:spPr>
        <p:txBody>
          <a:bodyPr wrap="square" lIns="0" tIns="0" rIns="0" bIns="0" anchor="t">
            <a:spAutoFit/>
          </a:bodyPr>
          <a:lstStyle/>
          <a:p>
            <a:pPr algn="l">
              <a:lnSpc>
                <a:spcPts val="1912"/>
              </a:lnSpc>
            </a:pPr>
            <a:r>
              <a:rPr sz="1275" b="0" i="0" u="none">
                <a:solidFill>
                  <a:srgbClr val="CBD5E1"/>
                </a:solidFill>
                <a:latin typeface="Lato"/>
              </a:rPr>
              <a:t>Which stores generate the highest sales and profit?</a:t>
            </a:r>
          </a:p>
        </p:txBody>
      </p:sp>
      <p:sp>
        <p:nvSpPr>
          <p:cNvPr id="20" name="TextBox 19"/>
          <p:cNvSpPr txBox="1"/>
          <p:nvPr/>
        </p:nvSpPr>
        <p:spPr>
          <a:xfrm>
            <a:off x="1028700" y="4362450"/>
            <a:ext cx="2806600" cy="485775"/>
          </a:xfrm>
          <a:prstGeom prst="rect">
            <a:avLst/>
          </a:prstGeom>
          <a:noFill/>
        </p:spPr>
        <p:txBody>
          <a:bodyPr wrap="square" lIns="0" tIns="0" rIns="0" bIns="0" anchor="t">
            <a:spAutoFit/>
          </a:bodyPr>
          <a:lstStyle/>
          <a:p>
            <a:pPr algn="l">
              <a:lnSpc>
                <a:spcPts val="1912"/>
              </a:lnSpc>
            </a:pPr>
            <a:r>
              <a:rPr sz="1275" b="0" i="0" u="none">
                <a:solidFill>
                  <a:srgbClr val="CBD5E1"/>
                </a:solidFill>
                <a:latin typeface="Lato"/>
              </a:rPr>
              <a:t>Which stores are underperforming compared with others?</a:t>
            </a:r>
          </a:p>
        </p:txBody>
      </p:sp>
      <p:sp>
        <p:nvSpPr>
          <p:cNvPr id="21" name="TextBox 20"/>
          <p:cNvSpPr txBox="1"/>
          <p:nvPr/>
        </p:nvSpPr>
        <p:spPr>
          <a:xfrm>
            <a:off x="4844950" y="3743325"/>
            <a:ext cx="2806749" cy="485775"/>
          </a:xfrm>
          <a:prstGeom prst="rect">
            <a:avLst/>
          </a:prstGeom>
          <a:noFill/>
        </p:spPr>
        <p:txBody>
          <a:bodyPr wrap="square" lIns="0" tIns="0" rIns="0" bIns="0" anchor="t">
            <a:spAutoFit/>
          </a:bodyPr>
          <a:lstStyle/>
          <a:p>
            <a:pPr algn="l">
              <a:lnSpc>
                <a:spcPts val="1912"/>
              </a:lnSpc>
            </a:pPr>
            <a:r>
              <a:rPr sz="1275" b="0" i="0" u="none">
                <a:solidFill>
                  <a:srgbClr val="CBD5E1"/>
                </a:solidFill>
                <a:latin typeface="Lato"/>
              </a:rPr>
              <a:t>Which employees generate the highest sales?</a:t>
            </a:r>
          </a:p>
        </p:txBody>
      </p:sp>
      <p:sp>
        <p:nvSpPr>
          <p:cNvPr id="22" name="TextBox 21"/>
          <p:cNvSpPr txBox="1"/>
          <p:nvPr/>
        </p:nvSpPr>
        <p:spPr>
          <a:xfrm>
            <a:off x="4844950" y="4362450"/>
            <a:ext cx="2806749" cy="485775"/>
          </a:xfrm>
          <a:prstGeom prst="rect">
            <a:avLst/>
          </a:prstGeom>
          <a:noFill/>
        </p:spPr>
        <p:txBody>
          <a:bodyPr wrap="square" lIns="0" tIns="0" rIns="0" bIns="0" anchor="t">
            <a:spAutoFit/>
          </a:bodyPr>
          <a:lstStyle/>
          <a:p>
            <a:pPr algn="l">
              <a:lnSpc>
                <a:spcPts val="1912"/>
              </a:lnSpc>
            </a:pPr>
            <a:r>
              <a:rPr sz="1275" b="0" i="0" u="none">
                <a:solidFill>
                  <a:srgbClr val="CBD5E1"/>
                </a:solidFill>
                <a:latin typeface="Lato"/>
              </a:rPr>
              <a:t>Which employees contribute the most to profit?</a:t>
            </a:r>
          </a:p>
        </p:txBody>
      </p:sp>
      <p:sp>
        <p:nvSpPr>
          <p:cNvPr id="23" name="TextBox 22"/>
          <p:cNvSpPr txBox="1"/>
          <p:nvPr/>
        </p:nvSpPr>
        <p:spPr>
          <a:xfrm>
            <a:off x="8661350" y="3743325"/>
            <a:ext cx="2806600" cy="485775"/>
          </a:xfrm>
          <a:prstGeom prst="rect">
            <a:avLst/>
          </a:prstGeom>
          <a:noFill/>
        </p:spPr>
        <p:txBody>
          <a:bodyPr wrap="square" lIns="0" tIns="0" rIns="0" bIns="0" anchor="t">
            <a:spAutoFit/>
          </a:bodyPr>
          <a:lstStyle/>
          <a:p>
            <a:pPr algn="l">
              <a:lnSpc>
                <a:spcPts val="1912"/>
              </a:lnSpc>
            </a:pPr>
            <a:r>
              <a:rPr sz="1275" b="0" i="0" u="none">
                <a:solidFill>
                  <a:srgbClr val="CBD5E1"/>
                </a:solidFill>
                <a:latin typeface="Lato"/>
              </a:rPr>
              <a:t>Which products or stores have high sales but low profitability?</a:t>
            </a:r>
          </a:p>
        </p:txBody>
      </p:sp>
      <p:sp>
        <p:nvSpPr>
          <p:cNvPr id="24" name="TextBox 23"/>
          <p:cNvSpPr txBox="1"/>
          <p:nvPr/>
        </p:nvSpPr>
        <p:spPr>
          <a:xfrm>
            <a:off x="8661350" y="4362450"/>
            <a:ext cx="2806600" cy="485775"/>
          </a:xfrm>
          <a:prstGeom prst="rect">
            <a:avLst/>
          </a:prstGeom>
          <a:noFill/>
        </p:spPr>
        <p:txBody>
          <a:bodyPr wrap="square" lIns="0" tIns="0" rIns="0" bIns="0" anchor="t">
            <a:spAutoFit/>
          </a:bodyPr>
          <a:lstStyle/>
          <a:p>
            <a:pPr algn="l">
              <a:lnSpc>
                <a:spcPts val="1912"/>
              </a:lnSpc>
            </a:pPr>
            <a:r>
              <a:rPr sz="1275" b="0" i="0" u="none">
                <a:solidFill>
                  <a:srgbClr val="CBD5E1"/>
                </a:solidFill>
                <a:latin typeface="Lato"/>
              </a:rPr>
              <a:t>What are the main opportunities for improving sales and profitability?</a:t>
            </a:r>
          </a:p>
        </p:txBody>
      </p:sp>
      <p:pic>
        <p:nvPicPr>
          <p:cNvPr id="25" name="Picture 24" descr="image.png"/>
          <p:cNvPicPr>
            <a:picLocks noChangeAspect="1"/>
          </p:cNvPicPr>
          <p:nvPr/>
        </p:nvPicPr>
        <p:blipFill>
          <a:blip r:embed="rId14"/>
          <a:stretch>
            <a:fillRect/>
          </a:stretch>
        </p:blipFill>
        <p:spPr>
          <a:xfrm>
            <a:off x="723900" y="3767137"/>
            <a:ext cx="171450" cy="180975"/>
          </a:xfrm>
          <a:prstGeom prst="rect">
            <a:avLst/>
          </a:prstGeom>
        </p:spPr>
      </p:pic>
      <p:pic>
        <p:nvPicPr>
          <p:cNvPr id="26" name="Picture 25" descr="image.png"/>
          <p:cNvPicPr>
            <a:picLocks noChangeAspect="1"/>
          </p:cNvPicPr>
          <p:nvPr/>
        </p:nvPicPr>
        <p:blipFill>
          <a:blip r:embed="rId14"/>
          <a:stretch>
            <a:fillRect/>
          </a:stretch>
        </p:blipFill>
        <p:spPr>
          <a:xfrm>
            <a:off x="723900" y="4386262"/>
            <a:ext cx="171450" cy="180975"/>
          </a:xfrm>
          <a:prstGeom prst="rect">
            <a:avLst/>
          </a:prstGeom>
        </p:spPr>
      </p:pic>
      <p:pic>
        <p:nvPicPr>
          <p:cNvPr id="27" name="Picture 26" descr="image.png"/>
          <p:cNvPicPr>
            <a:picLocks noChangeAspect="1"/>
          </p:cNvPicPr>
          <p:nvPr/>
        </p:nvPicPr>
        <p:blipFill>
          <a:blip r:embed="rId14"/>
          <a:stretch>
            <a:fillRect/>
          </a:stretch>
        </p:blipFill>
        <p:spPr>
          <a:xfrm>
            <a:off x="4540150" y="3767137"/>
            <a:ext cx="171450" cy="180975"/>
          </a:xfrm>
          <a:prstGeom prst="rect">
            <a:avLst/>
          </a:prstGeom>
        </p:spPr>
      </p:pic>
      <p:pic>
        <p:nvPicPr>
          <p:cNvPr id="28" name="Picture 27" descr="image.png"/>
          <p:cNvPicPr>
            <a:picLocks noChangeAspect="1"/>
          </p:cNvPicPr>
          <p:nvPr/>
        </p:nvPicPr>
        <p:blipFill>
          <a:blip r:embed="rId14"/>
          <a:stretch>
            <a:fillRect/>
          </a:stretch>
        </p:blipFill>
        <p:spPr>
          <a:xfrm>
            <a:off x="4540150" y="4386262"/>
            <a:ext cx="171450" cy="180975"/>
          </a:xfrm>
          <a:prstGeom prst="rect">
            <a:avLst/>
          </a:prstGeom>
        </p:spPr>
      </p:pic>
      <p:pic>
        <p:nvPicPr>
          <p:cNvPr id="29" name="Picture 28" descr="image.png"/>
          <p:cNvPicPr>
            <a:picLocks noChangeAspect="1"/>
          </p:cNvPicPr>
          <p:nvPr/>
        </p:nvPicPr>
        <p:blipFill>
          <a:blip r:embed="rId14"/>
          <a:stretch>
            <a:fillRect/>
          </a:stretch>
        </p:blipFill>
        <p:spPr>
          <a:xfrm>
            <a:off x="8356550" y="3767137"/>
            <a:ext cx="171450" cy="180975"/>
          </a:xfrm>
          <a:prstGeom prst="rect">
            <a:avLst/>
          </a:prstGeom>
        </p:spPr>
      </p:pic>
      <p:pic>
        <p:nvPicPr>
          <p:cNvPr id="30" name="Picture 29" descr="image.png"/>
          <p:cNvPicPr>
            <a:picLocks noChangeAspect="1"/>
          </p:cNvPicPr>
          <p:nvPr/>
        </p:nvPicPr>
        <p:blipFill>
          <a:blip r:embed="rId14"/>
          <a:stretch>
            <a:fillRect/>
          </a:stretch>
        </p:blipFill>
        <p:spPr>
          <a:xfrm>
            <a:off x="8356550" y="4386262"/>
            <a:ext cx="171450" cy="180975"/>
          </a:xfrm>
          <a:prstGeom prst="rect">
            <a:avLst/>
          </a:prstGeom>
        </p:spPr>
      </p:pic>
      <p:sp>
        <p:nvSpPr>
          <p:cNvPr id="31" name="TextBox 30"/>
          <p:cNvSpPr txBox="1"/>
          <p:nvPr/>
        </p:nvSpPr>
        <p:spPr>
          <a:xfrm>
            <a:off x="485775" y="485775"/>
            <a:ext cx="11706225" cy="523875"/>
          </a:xfrm>
          <a:prstGeom prst="rect">
            <a:avLst/>
          </a:prstGeom>
          <a:noFill/>
        </p:spPr>
        <p:txBody>
          <a:bodyPr wrap="square" lIns="0" tIns="0" rIns="0" bIns="0" anchor="ctr">
            <a:spAutoFit/>
          </a:bodyPr>
          <a:lstStyle/>
          <a:p>
            <a:pPr algn="l"/>
            <a:r>
              <a:rPr sz="2700" b="1" i="0" u="none">
                <a:solidFill>
                  <a:srgbClr val="F8FAFC"/>
                </a:solidFill>
                <a:latin typeface="Poppins"/>
              </a:rPr>
              <a:t>Business Requirements &amp; Questions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85775" y="3887092"/>
            <a:ext cx="11220450" cy="1295400"/>
          </a:xfrm>
          <a:prstGeom prst="rect">
            <a:avLst/>
          </a:prstGeom>
        </p:spPr>
      </p:pic>
      <p:pic>
        <p:nvPicPr>
          <p:cNvPr id="4" name="Picture 3" descr="image.png"/>
          <p:cNvPicPr>
            <a:picLocks noChangeAspect="1"/>
          </p:cNvPicPr>
          <p:nvPr/>
        </p:nvPicPr>
        <p:blipFill>
          <a:blip r:embed="rId4"/>
          <a:stretch>
            <a:fillRect/>
          </a:stretch>
        </p:blipFill>
        <p:spPr>
          <a:xfrm>
            <a:off x="485626" y="2485132"/>
            <a:ext cx="2061269" cy="1173360"/>
          </a:xfrm>
          <a:prstGeom prst="rect">
            <a:avLst/>
          </a:prstGeom>
        </p:spPr>
      </p:pic>
      <p:pic>
        <p:nvPicPr>
          <p:cNvPr id="5" name="Picture 4" descr="image.png"/>
          <p:cNvPicPr>
            <a:picLocks noChangeAspect="1"/>
          </p:cNvPicPr>
          <p:nvPr/>
        </p:nvPicPr>
        <p:blipFill>
          <a:blip r:embed="rId5"/>
          <a:stretch>
            <a:fillRect/>
          </a:stretch>
        </p:blipFill>
        <p:spPr>
          <a:xfrm>
            <a:off x="2775495" y="2485132"/>
            <a:ext cx="2061269" cy="1173360"/>
          </a:xfrm>
          <a:prstGeom prst="rect">
            <a:avLst/>
          </a:prstGeom>
        </p:spPr>
      </p:pic>
      <p:pic>
        <p:nvPicPr>
          <p:cNvPr id="6" name="Picture 5" descr="image.png"/>
          <p:cNvPicPr>
            <a:picLocks noChangeAspect="1"/>
          </p:cNvPicPr>
          <p:nvPr/>
        </p:nvPicPr>
        <p:blipFill>
          <a:blip r:embed="rId6"/>
          <a:stretch>
            <a:fillRect/>
          </a:stretch>
        </p:blipFill>
        <p:spPr>
          <a:xfrm>
            <a:off x="5065365" y="2485132"/>
            <a:ext cx="2061269" cy="1173360"/>
          </a:xfrm>
          <a:prstGeom prst="rect">
            <a:avLst/>
          </a:prstGeom>
        </p:spPr>
      </p:pic>
      <p:pic>
        <p:nvPicPr>
          <p:cNvPr id="7" name="Picture 6" descr="image.png"/>
          <p:cNvPicPr>
            <a:picLocks noChangeAspect="1"/>
          </p:cNvPicPr>
          <p:nvPr/>
        </p:nvPicPr>
        <p:blipFill>
          <a:blip r:embed="rId7"/>
          <a:stretch>
            <a:fillRect/>
          </a:stretch>
        </p:blipFill>
        <p:spPr>
          <a:xfrm>
            <a:off x="7355234" y="2485132"/>
            <a:ext cx="2061269" cy="1173360"/>
          </a:xfrm>
          <a:prstGeom prst="rect">
            <a:avLst/>
          </a:prstGeom>
        </p:spPr>
      </p:pic>
      <p:pic>
        <p:nvPicPr>
          <p:cNvPr id="8" name="Picture 7" descr="image.png"/>
          <p:cNvPicPr>
            <a:picLocks noChangeAspect="1"/>
          </p:cNvPicPr>
          <p:nvPr/>
        </p:nvPicPr>
        <p:blipFill>
          <a:blip r:embed="rId8"/>
          <a:stretch>
            <a:fillRect/>
          </a:stretch>
        </p:blipFill>
        <p:spPr>
          <a:xfrm>
            <a:off x="9645104" y="2485132"/>
            <a:ext cx="2061269" cy="1173360"/>
          </a:xfrm>
          <a:prstGeom prst="rect">
            <a:avLst/>
          </a:prstGeom>
        </p:spPr>
      </p:pic>
      <p:pic>
        <p:nvPicPr>
          <p:cNvPr id="9" name="Picture 8" descr="image.png"/>
          <p:cNvPicPr>
            <a:picLocks noChangeAspect="1"/>
          </p:cNvPicPr>
          <p:nvPr/>
        </p:nvPicPr>
        <p:blipFill>
          <a:blip r:embed="rId9"/>
          <a:stretch>
            <a:fillRect/>
          </a:stretch>
        </p:blipFill>
        <p:spPr>
          <a:xfrm>
            <a:off x="485775" y="6391275"/>
            <a:ext cx="11220450" cy="266700"/>
          </a:xfrm>
          <a:prstGeom prst="rect">
            <a:avLst/>
          </a:prstGeom>
        </p:spPr>
      </p:pic>
      <p:pic>
        <p:nvPicPr>
          <p:cNvPr id="10" name="Picture 9" descr="image.png"/>
          <p:cNvPicPr>
            <a:picLocks noChangeAspect="1"/>
          </p:cNvPicPr>
          <p:nvPr/>
        </p:nvPicPr>
        <p:blipFill>
          <a:blip r:embed="rId10"/>
          <a:stretch>
            <a:fillRect/>
          </a:stretch>
        </p:blipFill>
        <p:spPr>
          <a:xfrm>
            <a:off x="10753725" y="600075"/>
            <a:ext cx="952500" cy="295275"/>
          </a:xfrm>
          <a:prstGeom prst="rect">
            <a:avLst/>
          </a:prstGeom>
        </p:spPr>
      </p:pic>
      <p:sp>
        <p:nvSpPr>
          <p:cNvPr id="11" name="TextBox 10"/>
          <p:cNvSpPr txBox="1"/>
          <p:nvPr/>
        </p:nvSpPr>
        <p:spPr>
          <a:xfrm>
            <a:off x="485775" y="6515100"/>
            <a:ext cx="1857375" cy="142875"/>
          </a:xfrm>
          <a:prstGeom prst="rect">
            <a:avLst/>
          </a:prstGeom>
          <a:noFill/>
        </p:spPr>
        <p:txBody>
          <a:bodyPr wrap="square" lIns="0" tIns="0" rIns="0" bIns="0" anchor="t">
            <a:spAutoFit/>
          </a:bodyPr>
          <a:lstStyle/>
          <a:p>
            <a:pPr algn="l"/>
            <a:r>
              <a:rPr sz="900" b="0" i="0" u="none">
                <a:solidFill>
                  <a:srgbClr val="64748B"/>
                </a:solidFill>
                <a:latin typeface="Lato"/>
              </a:rPr>
              <a:t>Smart Zone — Electronics Retail Store</a:t>
            </a:r>
          </a:p>
        </p:txBody>
      </p:sp>
      <p:sp>
        <p:nvSpPr>
          <p:cNvPr id="12" name="TextBox 11"/>
          <p:cNvSpPr txBox="1"/>
          <p:nvPr/>
        </p:nvSpPr>
        <p:spPr>
          <a:xfrm>
            <a:off x="10448925" y="6515100"/>
            <a:ext cx="1257300" cy="142875"/>
          </a:xfrm>
          <a:prstGeom prst="rect">
            <a:avLst/>
          </a:prstGeom>
          <a:noFill/>
        </p:spPr>
        <p:txBody>
          <a:bodyPr wrap="square" lIns="0" tIns="0" rIns="0" bIns="0" anchor="t">
            <a:spAutoFit/>
          </a:bodyPr>
          <a:lstStyle/>
          <a:p>
            <a:pPr algn="l"/>
            <a:r>
              <a:rPr sz="900" b="0" i="0" u="none">
                <a:solidFill>
                  <a:srgbClr val="64748B"/>
                </a:solidFill>
                <a:latin typeface="Lato"/>
              </a:rPr>
              <a:t>Performance Framework</a:t>
            </a:r>
          </a:p>
        </p:txBody>
      </p:sp>
      <p:sp>
        <p:nvSpPr>
          <p:cNvPr id="13" name="TextBox 12"/>
          <p:cNvSpPr txBox="1"/>
          <p:nvPr/>
        </p:nvSpPr>
        <p:spPr>
          <a:xfrm>
            <a:off x="762000" y="4163317"/>
            <a:ext cx="11201400" cy="257175"/>
          </a:xfrm>
          <a:prstGeom prst="rect">
            <a:avLst/>
          </a:prstGeom>
          <a:noFill/>
        </p:spPr>
        <p:txBody>
          <a:bodyPr wrap="square" lIns="0" tIns="0" rIns="0" bIns="0" anchor="t">
            <a:spAutoFit/>
          </a:bodyPr>
          <a:lstStyle/>
          <a:p>
            <a:pPr algn="l"/>
            <a:r>
              <a:rPr sz="1350" b="0" i="0" u="none">
                <a:solidFill>
                  <a:srgbClr val="38BDF8"/>
                </a:solidFill>
                <a:latin typeface="Poppins SemiBold"/>
              </a:rPr>
              <a:t>Executive Dashboard Foundation</a:t>
            </a:r>
          </a:p>
        </p:txBody>
      </p:sp>
      <p:sp>
        <p:nvSpPr>
          <p:cNvPr id="14" name="TextBox 13"/>
          <p:cNvSpPr txBox="1"/>
          <p:nvPr/>
        </p:nvSpPr>
        <p:spPr>
          <a:xfrm>
            <a:off x="762000" y="4477642"/>
            <a:ext cx="10668000" cy="428625"/>
          </a:xfrm>
          <a:prstGeom prst="rect">
            <a:avLst/>
          </a:prstGeom>
          <a:noFill/>
        </p:spPr>
        <p:txBody>
          <a:bodyPr wrap="square" lIns="0" tIns="0" rIns="0" bIns="0" anchor="t">
            <a:spAutoFit/>
          </a:bodyPr>
          <a:lstStyle/>
          <a:p>
            <a:pPr algn="l">
              <a:lnSpc>
                <a:spcPts val="1687"/>
              </a:lnSpc>
            </a:pPr>
            <a:r>
              <a:rPr sz="1125" b="0" i="0" u="none">
                <a:solidFill>
                  <a:srgbClr val="CBD5E1"/>
                </a:solidFill>
                <a:latin typeface="Lato"/>
              </a:rPr>
              <a:t>These 5 core aggregate KPIs drive the business intelligence reporting layer, offering continuous real-time monitoring and drill-down capability across stores, products, and employee tiers.</a:t>
            </a:r>
          </a:p>
        </p:txBody>
      </p:sp>
      <p:sp>
        <p:nvSpPr>
          <p:cNvPr id="15" name="TextBox 14"/>
          <p:cNvSpPr txBox="1"/>
          <p:nvPr/>
        </p:nvSpPr>
        <p:spPr>
          <a:xfrm>
            <a:off x="723751" y="2723257"/>
            <a:ext cx="1585019" cy="439935"/>
          </a:xfrm>
          <a:prstGeom prst="rect">
            <a:avLst/>
          </a:prstGeom>
          <a:noFill/>
        </p:spPr>
        <p:txBody>
          <a:bodyPr wrap="square" lIns="0" tIns="0" rIns="0" bIns="0" anchor="t">
            <a:spAutoFit/>
          </a:bodyPr>
          <a:lstStyle/>
          <a:p>
            <a:pPr algn="ctr">
              <a:lnSpc>
                <a:spcPts val="3465"/>
              </a:lnSpc>
            </a:pPr>
            <a:r>
              <a:rPr sz="3150" b="0" i="0" u="none">
                <a:solidFill>
                  <a:srgbClr val="38BDF8"/>
                </a:solidFill>
                <a:latin typeface="Poppins ExtraBold"/>
              </a:rPr>
              <a:t>$</a:t>
            </a:r>
          </a:p>
        </p:txBody>
      </p:sp>
      <p:sp>
        <p:nvSpPr>
          <p:cNvPr id="16" name="TextBox 15"/>
          <p:cNvSpPr txBox="1"/>
          <p:nvPr/>
        </p:nvSpPr>
        <p:spPr>
          <a:xfrm>
            <a:off x="723751" y="3239392"/>
            <a:ext cx="1585019" cy="180975"/>
          </a:xfrm>
          <a:prstGeom prst="rect">
            <a:avLst/>
          </a:prstGeom>
          <a:noFill/>
        </p:spPr>
        <p:txBody>
          <a:bodyPr wrap="square" lIns="0" tIns="0" rIns="0" bIns="0" anchor="t">
            <a:spAutoFit/>
          </a:bodyPr>
          <a:lstStyle/>
          <a:p>
            <a:pPr algn="ctr"/>
            <a:r>
              <a:rPr sz="1200" b="0" i="0" u="none">
                <a:solidFill>
                  <a:srgbClr val="F8FAFC"/>
                </a:solidFill>
                <a:latin typeface="Lato SemiBold"/>
              </a:rPr>
              <a:t>Total Sales</a:t>
            </a:r>
          </a:p>
        </p:txBody>
      </p:sp>
      <p:sp>
        <p:nvSpPr>
          <p:cNvPr id="17" name="TextBox 16"/>
          <p:cNvSpPr txBox="1"/>
          <p:nvPr/>
        </p:nvSpPr>
        <p:spPr>
          <a:xfrm>
            <a:off x="3013620" y="2723257"/>
            <a:ext cx="1585019" cy="439935"/>
          </a:xfrm>
          <a:prstGeom prst="rect">
            <a:avLst/>
          </a:prstGeom>
          <a:noFill/>
        </p:spPr>
        <p:txBody>
          <a:bodyPr wrap="square" lIns="0" tIns="0" rIns="0" bIns="0" anchor="t">
            <a:spAutoFit/>
          </a:bodyPr>
          <a:lstStyle/>
          <a:p>
            <a:pPr algn="ctr">
              <a:lnSpc>
                <a:spcPts val="3465"/>
              </a:lnSpc>
            </a:pPr>
            <a:r>
              <a:rPr sz="3150" b="0" i="0" u="none">
                <a:solidFill>
                  <a:srgbClr val="10B981"/>
                </a:solidFill>
                <a:latin typeface="Poppins ExtraBold"/>
              </a:rPr>
              <a:t>+$</a:t>
            </a:r>
          </a:p>
        </p:txBody>
      </p:sp>
      <p:sp>
        <p:nvSpPr>
          <p:cNvPr id="18" name="TextBox 17"/>
          <p:cNvSpPr txBox="1"/>
          <p:nvPr/>
        </p:nvSpPr>
        <p:spPr>
          <a:xfrm>
            <a:off x="3013620" y="3239392"/>
            <a:ext cx="1585019" cy="180975"/>
          </a:xfrm>
          <a:prstGeom prst="rect">
            <a:avLst/>
          </a:prstGeom>
          <a:noFill/>
        </p:spPr>
        <p:txBody>
          <a:bodyPr wrap="square" lIns="0" tIns="0" rIns="0" bIns="0" anchor="t">
            <a:spAutoFit/>
          </a:bodyPr>
          <a:lstStyle/>
          <a:p>
            <a:pPr algn="ctr"/>
            <a:r>
              <a:rPr sz="1200" b="0" i="0" u="none">
                <a:solidFill>
                  <a:srgbClr val="F8FAFC"/>
                </a:solidFill>
                <a:latin typeface="Lato SemiBold"/>
              </a:rPr>
              <a:t>Total Profit</a:t>
            </a:r>
          </a:p>
        </p:txBody>
      </p:sp>
      <p:sp>
        <p:nvSpPr>
          <p:cNvPr id="19" name="TextBox 18"/>
          <p:cNvSpPr txBox="1"/>
          <p:nvPr/>
        </p:nvSpPr>
        <p:spPr>
          <a:xfrm>
            <a:off x="5303490" y="2723257"/>
            <a:ext cx="1585019" cy="439935"/>
          </a:xfrm>
          <a:prstGeom prst="rect">
            <a:avLst/>
          </a:prstGeom>
          <a:noFill/>
        </p:spPr>
        <p:txBody>
          <a:bodyPr wrap="square" lIns="0" tIns="0" rIns="0" bIns="0" anchor="t">
            <a:spAutoFit/>
          </a:bodyPr>
          <a:lstStyle/>
          <a:p>
            <a:pPr algn="ctr">
              <a:lnSpc>
                <a:spcPts val="3465"/>
              </a:lnSpc>
            </a:pPr>
            <a:r>
              <a:rPr sz="3150" b="0" i="0" u="none">
                <a:solidFill>
                  <a:srgbClr val="F59E0B"/>
                </a:solidFill>
                <a:latin typeface="Poppins ExtraBold"/>
              </a:rPr>
              <a:t>%</a:t>
            </a:r>
          </a:p>
        </p:txBody>
      </p:sp>
      <p:sp>
        <p:nvSpPr>
          <p:cNvPr id="20" name="TextBox 19"/>
          <p:cNvSpPr txBox="1"/>
          <p:nvPr/>
        </p:nvSpPr>
        <p:spPr>
          <a:xfrm>
            <a:off x="5303490" y="3239392"/>
            <a:ext cx="1585019" cy="180975"/>
          </a:xfrm>
          <a:prstGeom prst="rect">
            <a:avLst/>
          </a:prstGeom>
          <a:noFill/>
        </p:spPr>
        <p:txBody>
          <a:bodyPr wrap="square" lIns="0" tIns="0" rIns="0" bIns="0" anchor="t">
            <a:spAutoFit/>
          </a:bodyPr>
          <a:lstStyle/>
          <a:p>
            <a:pPr algn="ctr"/>
            <a:r>
              <a:rPr sz="1200" b="0" i="0" u="none">
                <a:solidFill>
                  <a:srgbClr val="F8FAFC"/>
                </a:solidFill>
                <a:latin typeface="Lato SemiBold"/>
              </a:rPr>
              <a:t>Profit Margin %</a:t>
            </a:r>
          </a:p>
        </p:txBody>
      </p:sp>
      <p:sp>
        <p:nvSpPr>
          <p:cNvPr id="21" name="TextBox 20"/>
          <p:cNvSpPr txBox="1"/>
          <p:nvPr/>
        </p:nvSpPr>
        <p:spPr>
          <a:xfrm>
            <a:off x="7593359" y="3239392"/>
            <a:ext cx="1585019" cy="180975"/>
          </a:xfrm>
          <a:prstGeom prst="rect">
            <a:avLst/>
          </a:prstGeom>
          <a:noFill/>
        </p:spPr>
        <p:txBody>
          <a:bodyPr wrap="square" lIns="0" tIns="0" rIns="0" bIns="0" anchor="t">
            <a:spAutoFit/>
          </a:bodyPr>
          <a:lstStyle/>
          <a:p>
            <a:pPr algn="ctr"/>
            <a:r>
              <a:rPr sz="1200" b="0" i="0" u="none">
                <a:solidFill>
                  <a:srgbClr val="F8FAFC"/>
                </a:solidFill>
                <a:latin typeface="Lato SemiBold"/>
              </a:rPr>
              <a:t>Total Customers</a:t>
            </a:r>
          </a:p>
        </p:txBody>
      </p:sp>
      <p:sp>
        <p:nvSpPr>
          <p:cNvPr id="22" name="TextBox 21"/>
          <p:cNvSpPr txBox="1"/>
          <p:nvPr/>
        </p:nvSpPr>
        <p:spPr>
          <a:xfrm>
            <a:off x="9883229" y="3239392"/>
            <a:ext cx="1585019" cy="180975"/>
          </a:xfrm>
          <a:prstGeom prst="rect">
            <a:avLst/>
          </a:prstGeom>
          <a:noFill/>
        </p:spPr>
        <p:txBody>
          <a:bodyPr wrap="square" lIns="0" tIns="0" rIns="0" bIns="0" anchor="t">
            <a:spAutoFit/>
          </a:bodyPr>
          <a:lstStyle/>
          <a:p>
            <a:pPr algn="ctr"/>
            <a:r>
              <a:rPr sz="1200" b="0" i="0" u="none">
                <a:solidFill>
                  <a:srgbClr val="F8FAFC"/>
                </a:solidFill>
                <a:latin typeface="Lato SemiBold"/>
              </a:rPr>
              <a:t>Total Quantity Sold</a:t>
            </a:r>
          </a:p>
        </p:txBody>
      </p:sp>
      <p:pic>
        <p:nvPicPr>
          <p:cNvPr id="23" name="Picture 22" descr="image.png"/>
          <p:cNvPicPr>
            <a:picLocks noChangeAspect="1"/>
          </p:cNvPicPr>
          <p:nvPr/>
        </p:nvPicPr>
        <p:blipFill>
          <a:blip r:embed="rId11"/>
          <a:stretch>
            <a:fillRect/>
          </a:stretch>
        </p:blipFill>
        <p:spPr>
          <a:xfrm>
            <a:off x="8195369" y="2808982"/>
            <a:ext cx="381000" cy="304800"/>
          </a:xfrm>
          <a:prstGeom prst="rect">
            <a:avLst/>
          </a:prstGeom>
        </p:spPr>
      </p:pic>
      <p:pic>
        <p:nvPicPr>
          <p:cNvPr id="24" name="Picture 23" descr="image.png"/>
          <p:cNvPicPr>
            <a:picLocks noChangeAspect="1"/>
          </p:cNvPicPr>
          <p:nvPr/>
        </p:nvPicPr>
        <p:blipFill>
          <a:blip r:embed="rId12"/>
          <a:stretch>
            <a:fillRect/>
          </a:stretch>
        </p:blipFill>
        <p:spPr>
          <a:xfrm>
            <a:off x="10504289" y="2808982"/>
            <a:ext cx="342900" cy="304800"/>
          </a:xfrm>
          <a:prstGeom prst="rect">
            <a:avLst/>
          </a:prstGeom>
        </p:spPr>
      </p:pic>
      <p:sp>
        <p:nvSpPr>
          <p:cNvPr id="25" name="TextBox 24"/>
          <p:cNvSpPr txBox="1"/>
          <p:nvPr/>
        </p:nvSpPr>
        <p:spPr>
          <a:xfrm>
            <a:off x="485775" y="485775"/>
            <a:ext cx="11706225" cy="523875"/>
          </a:xfrm>
          <a:prstGeom prst="rect">
            <a:avLst/>
          </a:prstGeom>
          <a:noFill/>
        </p:spPr>
        <p:txBody>
          <a:bodyPr wrap="square" lIns="0" tIns="0" rIns="0" bIns="0" anchor="ctr">
            <a:spAutoFit/>
          </a:bodyPr>
          <a:lstStyle/>
          <a:p>
            <a:pPr algn="l"/>
            <a:r>
              <a:rPr sz="2700" b="1" i="0" u="none">
                <a:solidFill>
                  <a:srgbClr val="F8FAFC"/>
                </a:solidFill>
                <a:latin typeface="Poppins"/>
              </a:rPr>
              <a:t>Key Performance Indicators (KPIs)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85775" y="2252662"/>
            <a:ext cx="5534025" cy="676275"/>
          </a:xfrm>
          <a:prstGeom prst="rect">
            <a:avLst/>
          </a:prstGeom>
        </p:spPr>
      </p:pic>
      <p:pic>
        <p:nvPicPr>
          <p:cNvPr id="4" name="Picture 3" descr="image.png"/>
          <p:cNvPicPr>
            <a:picLocks noChangeAspect="1"/>
          </p:cNvPicPr>
          <p:nvPr/>
        </p:nvPicPr>
        <p:blipFill>
          <a:blip r:embed="rId4"/>
          <a:stretch>
            <a:fillRect/>
          </a:stretch>
        </p:blipFill>
        <p:spPr>
          <a:xfrm>
            <a:off x="6172200" y="2252662"/>
            <a:ext cx="5534025" cy="676275"/>
          </a:xfrm>
          <a:prstGeom prst="rect">
            <a:avLst/>
          </a:prstGeom>
        </p:spPr>
      </p:pic>
      <p:pic>
        <p:nvPicPr>
          <p:cNvPr id="5" name="Picture 4" descr="image.png"/>
          <p:cNvPicPr>
            <a:picLocks noChangeAspect="1"/>
          </p:cNvPicPr>
          <p:nvPr/>
        </p:nvPicPr>
        <p:blipFill>
          <a:blip r:embed="rId5"/>
          <a:stretch>
            <a:fillRect/>
          </a:stretch>
        </p:blipFill>
        <p:spPr>
          <a:xfrm>
            <a:off x="485775" y="3081337"/>
            <a:ext cx="5534025" cy="676275"/>
          </a:xfrm>
          <a:prstGeom prst="rect">
            <a:avLst/>
          </a:prstGeom>
        </p:spPr>
      </p:pic>
      <p:pic>
        <p:nvPicPr>
          <p:cNvPr id="6" name="Picture 5" descr="image.png"/>
          <p:cNvPicPr>
            <a:picLocks noChangeAspect="1"/>
          </p:cNvPicPr>
          <p:nvPr/>
        </p:nvPicPr>
        <p:blipFill>
          <a:blip r:embed="rId5"/>
          <a:stretch>
            <a:fillRect/>
          </a:stretch>
        </p:blipFill>
        <p:spPr>
          <a:xfrm>
            <a:off x="6172200" y="3081337"/>
            <a:ext cx="5534025" cy="676275"/>
          </a:xfrm>
          <a:prstGeom prst="rect">
            <a:avLst/>
          </a:prstGeom>
        </p:spPr>
      </p:pic>
      <p:pic>
        <p:nvPicPr>
          <p:cNvPr id="7" name="Picture 6" descr="image.png"/>
          <p:cNvPicPr>
            <a:picLocks noChangeAspect="1"/>
          </p:cNvPicPr>
          <p:nvPr/>
        </p:nvPicPr>
        <p:blipFill>
          <a:blip r:embed="rId6"/>
          <a:stretch>
            <a:fillRect/>
          </a:stretch>
        </p:blipFill>
        <p:spPr>
          <a:xfrm>
            <a:off x="485775" y="3910012"/>
            <a:ext cx="5534025" cy="685800"/>
          </a:xfrm>
          <a:prstGeom prst="rect">
            <a:avLst/>
          </a:prstGeom>
        </p:spPr>
      </p:pic>
      <p:pic>
        <p:nvPicPr>
          <p:cNvPr id="8" name="Picture 7" descr="image.png"/>
          <p:cNvPicPr>
            <a:picLocks noChangeAspect="1"/>
          </p:cNvPicPr>
          <p:nvPr/>
        </p:nvPicPr>
        <p:blipFill>
          <a:blip r:embed="rId6"/>
          <a:stretch>
            <a:fillRect/>
          </a:stretch>
        </p:blipFill>
        <p:spPr>
          <a:xfrm>
            <a:off x="6172200" y="3910012"/>
            <a:ext cx="5534025" cy="685800"/>
          </a:xfrm>
          <a:prstGeom prst="rect">
            <a:avLst/>
          </a:prstGeom>
        </p:spPr>
      </p:pic>
      <p:pic>
        <p:nvPicPr>
          <p:cNvPr id="9" name="Picture 8" descr="image.png"/>
          <p:cNvPicPr>
            <a:picLocks noChangeAspect="1"/>
          </p:cNvPicPr>
          <p:nvPr/>
        </p:nvPicPr>
        <p:blipFill>
          <a:blip r:embed="rId7"/>
          <a:stretch>
            <a:fillRect/>
          </a:stretch>
        </p:blipFill>
        <p:spPr>
          <a:xfrm>
            <a:off x="485775" y="4748212"/>
            <a:ext cx="5534025" cy="666750"/>
          </a:xfrm>
          <a:prstGeom prst="rect">
            <a:avLst/>
          </a:prstGeom>
        </p:spPr>
      </p:pic>
      <p:pic>
        <p:nvPicPr>
          <p:cNvPr id="10" name="Picture 9" descr="image.png"/>
          <p:cNvPicPr>
            <a:picLocks noChangeAspect="1"/>
          </p:cNvPicPr>
          <p:nvPr/>
        </p:nvPicPr>
        <p:blipFill>
          <a:blip r:embed="rId8"/>
          <a:stretch>
            <a:fillRect/>
          </a:stretch>
        </p:blipFill>
        <p:spPr>
          <a:xfrm>
            <a:off x="6172200" y="4748212"/>
            <a:ext cx="5534025" cy="666750"/>
          </a:xfrm>
          <a:prstGeom prst="rect">
            <a:avLst/>
          </a:prstGeom>
        </p:spPr>
      </p:pic>
      <p:pic>
        <p:nvPicPr>
          <p:cNvPr id="11" name="Picture 10" descr="image.png"/>
          <p:cNvPicPr>
            <a:picLocks noChangeAspect="1"/>
          </p:cNvPicPr>
          <p:nvPr/>
        </p:nvPicPr>
        <p:blipFill>
          <a:blip r:embed="rId9"/>
          <a:stretch>
            <a:fillRect/>
          </a:stretch>
        </p:blipFill>
        <p:spPr>
          <a:xfrm>
            <a:off x="647700" y="2414587"/>
            <a:ext cx="228600" cy="228600"/>
          </a:xfrm>
          <a:prstGeom prst="rect">
            <a:avLst/>
          </a:prstGeom>
        </p:spPr>
      </p:pic>
      <p:pic>
        <p:nvPicPr>
          <p:cNvPr id="12" name="Picture 11" descr="image.png"/>
          <p:cNvPicPr>
            <a:picLocks noChangeAspect="1"/>
          </p:cNvPicPr>
          <p:nvPr/>
        </p:nvPicPr>
        <p:blipFill>
          <a:blip r:embed="rId10"/>
          <a:stretch>
            <a:fillRect/>
          </a:stretch>
        </p:blipFill>
        <p:spPr>
          <a:xfrm>
            <a:off x="6334125" y="2414587"/>
            <a:ext cx="228600" cy="228600"/>
          </a:xfrm>
          <a:prstGeom prst="rect">
            <a:avLst/>
          </a:prstGeom>
        </p:spPr>
      </p:pic>
      <p:pic>
        <p:nvPicPr>
          <p:cNvPr id="13" name="Picture 12" descr="image.png"/>
          <p:cNvPicPr>
            <a:picLocks noChangeAspect="1"/>
          </p:cNvPicPr>
          <p:nvPr/>
        </p:nvPicPr>
        <p:blipFill>
          <a:blip r:embed="rId11"/>
          <a:stretch>
            <a:fillRect/>
          </a:stretch>
        </p:blipFill>
        <p:spPr>
          <a:xfrm>
            <a:off x="647700" y="3243262"/>
            <a:ext cx="228600" cy="228600"/>
          </a:xfrm>
          <a:prstGeom prst="rect">
            <a:avLst/>
          </a:prstGeom>
        </p:spPr>
      </p:pic>
      <p:pic>
        <p:nvPicPr>
          <p:cNvPr id="14" name="Picture 13" descr="image.png"/>
          <p:cNvPicPr>
            <a:picLocks noChangeAspect="1"/>
          </p:cNvPicPr>
          <p:nvPr/>
        </p:nvPicPr>
        <p:blipFill>
          <a:blip r:embed="rId12"/>
          <a:stretch>
            <a:fillRect/>
          </a:stretch>
        </p:blipFill>
        <p:spPr>
          <a:xfrm>
            <a:off x="6334125" y="3243262"/>
            <a:ext cx="228600" cy="228600"/>
          </a:xfrm>
          <a:prstGeom prst="rect">
            <a:avLst/>
          </a:prstGeom>
        </p:spPr>
      </p:pic>
      <p:pic>
        <p:nvPicPr>
          <p:cNvPr id="15" name="Picture 14" descr="image.png"/>
          <p:cNvPicPr>
            <a:picLocks noChangeAspect="1"/>
          </p:cNvPicPr>
          <p:nvPr/>
        </p:nvPicPr>
        <p:blipFill>
          <a:blip r:embed="rId13"/>
          <a:stretch>
            <a:fillRect/>
          </a:stretch>
        </p:blipFill>
        <p:spPr>
          <a:xfrm>
            <a:off x="647700" y="4071937"/>
            <a:ext cx="228600" cy="228600"/>
          </a:xfrm>
          <a:prstGeom prst="rect">
            <a:avLst/>
          </a:prstGeom>
        </p:spPr>
      </p:pic>
      <p:pic>
        <p:nvPicPr>
          <p:cNvPr id="16" name="Picture 15" descr="image.png"/>
          <p:cNvPicPr>
            <a:picLocks noChangeAspect="1"/>
          </p:cNvPicPr>
          <p:nvPr/>
        </p:nvPicPr>
        <p:blipFill>
          <a:blip r:embed="rId14"/>
          <a:stretch>
            <a:fillRect/>
          </a:stretch>
        </p:blipFill>
        <p:spPr>
          <a:xfrm>
            <a:off x="6334125" y="4071937"/>
            <a:ext cx="228600" cy="228600"/>
          </a:xfrm>
          <a:prstGeom prst="rect">
            <a:avLst/>
          </a:prstGeom>
        </p:spPr>
      </p:pic>
      <p:pic>
        <p:nvPicPr>
          <p:cNvPr id="17" name="Picture 16" descr="image.png"/>
          <p:cNvPicPr>
            <a:picLocks noChangeAspect="1"/>
          </p:cNvPicPr>
          <p:nvPr/>
        </p:nvPicPr>
        <p:blipFill>
          <a:blip r:embed="rId15"/>
          <a:stretch>
            <a:fillRect/>
          </a:stretch>
        </p:blipFill>
        <p:spPr>
          <a:xfrm>
            <a:off x="647700" y="4910137"/>
            <a:ext cx="228600" cy="228600"/>
          </a:xfrm>
          <a:prstGeom prst="rect">
            <a:avLst/>
          </a:prstGeom>
        </p:spPr>
      </p:pic>
      <p:pic>
        <p:nvPicPr>
          <p:cNvPr id="18" name="Picture 17" descr="image.png"/>
          <p:cNvPicPr>
            <a:picLocks noChangeAspect="1"/>
          </p:cNvPicPr>
          <p:nvPr/>
        </p:nvPicPr>
        <p:blipFill>
          <a:blip r:embed="rId16"/>
          <a:stretch>
            <a:fillRect/>
          </a:stretch>
        </p:blipFill>
        <p:spPr>
          <a:xfrm>
            <a:off x="6334125" y="4910137"/>
            <a:ext cx="228600" cy="228600"/>
          </a:xfrm>
          <a:prstGeom prst="rect">
            <a:avLst/>
          </a:prstGeom>
        </p:spPr>
      </p:pic>
      <p:pic>
        <p:nvPicPr>
          <p:cNvPr id="19" name="Picture 18" descr="image.png"/>
          <p:cNvPicPr>
            <a:picLocks noChangeAspect="1"/>
          </p:cNvPicPr>
          <p:nvPr/>
        </p:nvPicPr>
        <p:blipFill>
          <a:blip r:embed="rId17"/>
          <a:stretch>
            <a:fillRect/>
          </a:stretch>
        </p:blipFill>
        <p:spPr>
          <a:xfrm>
            <a:off x="485775" y="6391275"/>
            <a:ext cx="11220450" cy="266700"/>
          </a:xfrm>
          <a:prstGeom prst="rect">
            <a:avLst/>
          </a:prstGeom>
        </p:spPr>
      </p:pic>
      <p:pic>
        <p:nvPicPr>
          <p:cNvPr id="20" name="Picture 19" descr="image.png"/>
          <p:cNvPicPr>
            <a:picLocks noChangeAspect="1"/>
          </p:cNvPicPr>
          <p:nvPr/>
        </p:nvPicPr>
        <p:blipFill>
          <a:blip r:embed="rId18"/>
          <a:stretch>
            <a:fillRect/>
          </a:stretch>
        </p:blipFill>
        <p:spPr>
          <a:xfrm>
            <a:off x="10753725" y="600075"/>
            <a:ext cx="952500" cy="295275"/>
          </a:xfrm>
          <a:prstGeom prst="rect">
            <a:avLst/>
          </a:prstGeom>
        </p:spPr>
      </p:pic>
      <p:sp>
        <p:nvSpPr>
          <p:cNvPr id="21" name="TextBox 20"/>
          <p:cNvSpPr txBox="1"/>
          <p:nvPr/>
        </p:nvSpPr>
        <p:spPr>
          <a:xfrm>
            <a:off x="485775" y="6515100"/>
            <a:ext cx="1857375" cy="142875"/>
          </a:xfrm>
          <a:prstGeom prst="rect">
            <a:avLst/>
          </a:prstGeom>
          <a:noFill/>
        </p:spPr>
        <p:txBody>
          <a:bodyPr wrap="square" lIns="0" tIns="0" rIns="0" bIns="0" anchor="t">
            <a:spAutoFit/>
          </a:bodyPr>
          <a:lstStyle/>
          <a:p>
            <a:pPr algn="l"/>
            <a:r>
              <a:rPr sz="900" b="0" i="0" u="none">
                <a:solidFill>
                  <a:srgbClr val="64748B"/>
                </a:solidFill>
                <a:latin typeface="Lato"/>
              </a:rPr>
              <a:t>Smart Zone — Electronics Retail Store</a:t>
            </a:r>
          </a:p>
        </p:txBody>
      </p:sp>
      <p:sp>
        <p:nvSpPr>
          <p:cNvPr id="22" name="TextBox 21"/>
          <p:cNvSpPr txBox="1"/>
          <p:nvPr/>
        </p:nvSpPr>
        <p:spPr>
          <a:xfrm>
            <a:off x="9848850" y="6515100"/>
            <a:ext cx="1857375" cy="142875"/>
          </a:xfrm>
          <a:prstGeom prst="rect">
            <a:avLst/>
          </a:prstGeom>
          <a:noFill/>
        </p:spPr>
        <p:txBody>
          <a:bodyPr wrap="square" lIns="0" tIns="0" rIns="0" bIns="0" anchor="t">
            <a:spAutoFit/>
          </a:bodyPr>
          <a:lstStyle/>
          <a:p>
            <a:pPr algn="l"/>
            <a:r>
              <a:rPr sz="900" b="0" i="0" u="none">
                <a:solidFill>
                  <a:srgbClr val="64748B"/>
                </a:solidFill>
                <a:latin typeface="Lato"/>
              </a:rPr>
              <a:t>Database Requirement Specifications</a:t>
            </a:r>
          </a:p>
        </p:txBody>
      </p:sp>
      <p:sp>
        <p:nvSpPr>
          <p:cNvPr id="23" name="TextBox 22"/>
          <p:cNvSpPr txBox="1"/>
          <p:nvPr/>
        </p:nvSpPr>
        <p:spPr>
          <a:xfrm>
            <a:off x="990600" y="2414587"/>
            <a:ext cx="4867275" cy="352425"/>
          </a:xfrm>
          <a:prstGeom prst="rect">
            <a:avLst/>
          </a:prstGeom>
          <a:noFill/>
        </p:spPr>
        <p:txBody>
          <a:bodyPr wrap="square" lIns="0" tIns="0" rIns="0" bIns="0" anchor="t">
            <a:spAutoFit/>
          </a:bodyPr>
          <a:lstStyle/>
          <a:p>
            <a:pPr algn="l"/>
            <a:r>
              <a:rPr sz="1125" b="0" i="0" u="none">
                <a:solidFill>
                  <a:srgbClr val="CBD5E1"/>
                </a:solidFill>
                <a:latin typeface="Lato"/>
              </a:rPr>
              <a:t>Customers have unique Customer_ID, Name, Gender, Age, City, Customer_Segment, and Registration_Date.</a:t>
            </a:r>
          </a:p>
        </p:txBody>
      </p:sp>
      <p:sp>
        <p:nvSpPr>
          <p:cNvPr id="24" name="TextBox 23"/>
          <p:cNvSpPr txBox="1"/>
          <p:nvPr/>
        </p:nvSpPr>
        <p:spPr>
          <a:xfrm>
            <a:off x="6677025" y="2414587"/>
            <a:ext cx="4867275" cy="352425"/>
          </a:xfrm>
          <a:prstGeom prst="rect">
            <a:avLst/>
          </a:prstGeom>
          <a:noFill/>
        </p:spPr>
        <p:txBody>
          <a:bodyPr wrap="square" lIns="0" tIns="0" rIns="0" bIns="0" anchor="t">
            <a:spAutoFit/>
          </a:bodyPr>
          <a:lstStyle/>
          <a:p>
            <a:pPr algn="l"/>
            <a:r>
              <a:rPr sz="1125" b="0" i="0" u="none">
                <a:solidFill>
                  <a:srgbClr val="CBD5E1"/>
                </a:solidFill>
                <a:latin typeface="Lato"/>
              </a:rPr>
              <a:t>Products have unique Product_ID, Product_Name, Brand, Category, Unit_Cost, Unit_Price, Stock_Quantity, Product_Rating.</a:t>
            </a:r>
          </a:p>
        </p:txBody>
      </p:sp>
      <p:sp>
        <p:nvSpPr>
          <p:cNvPr id="25" name="TextBox 24"/>
          <p:cNvSpPr txBox="1"/>
          <p:nvPr/>
        </p:nvSpPr>
        <p:spPr>
          <a:xfrm>
            <a:off x="990600" y="3243262"/>
            <a:ext cx="4867275" cy="352425"/>
          </a:xfrm>
          <a:prstGeom prst="rect">
            <a:avLst/>
          </a:prstGeom>
          <a:noFill/>
        </p:spPr>
        <p:txBody>
          <a:bodyPr wrap="square" lIns="0" tIns="0" rIns="0" bIns="0" anchor="t">
            <a:spAutoFit/>
          </a:bodyPr>
          <a:lstStyle/>
          <a:p>
            <a:pPr algn="l"/>
            <a:r>
              <a:rPr sz="1125" b="0" i="0" u="none">
                <a:solidFill>
                  <a:srgbClr val="CBD5E1"/>
                </a:solidFill>
                <a:latin typeface="Lato"/>
              </a:rPr>
              <a:t>Stores have unique Store_ID, Store_Name, City, Region, Store_Type, and Opening_Date.</a:t>
            </a:r>
          </a:p>
        </p:txBody>
      </p:sp>
      <p:sp>
        <p:nvSpPr>
          <p:cNvPr id="26" name="TextBox 25"/>
          <p:cNvSpPr txBox="1"/>
          <p:nvPr/>
        </p:nvSpPr>
        <p:spPr>
          <a:xfrm>
            <a:off x="6677025" y="3243262"/>
            <a:ext cx="4867275" cy="352425"/>
          </a:xfrm>
          <a:prstGeom prst="rect">
            <a:avLst/>
          </a:prstGeom>
          <a:noFill/>
        </p:spPr>
        <p:txBody>
          <a:bodyPr wrap="square" lIns="0" tIns="0" rIns="0" bIns="0" anchor="t">
            <a:spAutoFit/>
          </a:bodyPr>
          <a:lstStyle/>
          <a:p>
            <a:pPr algn="l"/>
            <a:r>
              <a:rPr sz="1125" b="0" i="0" u="none">
                <a:solidFill>
                  <a:srgbClr val="CBD5E1"/>
                </a:solidFill>
                <a:latin typeface="Lato"/>
              </a:rPr>
              <a:t>Employees work in one store with unique Employee_ID, Name, Gender, Hire_Date, and Job_Title.</a:t>
            </a:r>
          </a:p>
        </p:txBody>
      </p:sp>
      <p:sp>
        <p:nvSpPr>
          <p:cNvPr id="27" name="TextBox 26"/>
          <p:cNvSpPr txBox="1"/>
          <p:nvPr/>
        </p:nvSpPr>
        <p:spPr>
          <a:xfrm>
            <a:off x="990600" y="4071937"/>
            <a:ext cx="4867275" cy="352425"/>
          </a:xfrm>
          <a:prstGeom prst="rect">
            <a:avLst/>
          </a:prstGeom>
          <a:noFill/>
        </p:spPr>
        <p:txBody>
          <a:bodyPr wrap="square" lIns="0" tIns="0" rIns="0" bIns="0" anchor="t">
            <a:spAutoFit/>
          </a:bodyPr>
          <a:lstStyle/>
          <a:p>
            <a:pPr algn="l"/>
            <a:r>
              <a:rPr sz="1125" b="0" i="0" u="none">
                <a:solidFill>
                  <a:srgbClr val="CBD5E1"/>
                </a:solidFill>
                <a:latin typeface="Lato"/>
              </a:rPr>
              <a:t>Sales have unique Sale_ID, Sale_Date, Payment_Method, Order_Status, associated with one customer, store, and employee.</a:t>
            </a:r>
          </a:p>
        </p:txBody>
      </p:sp>
      <p:sp>
        <p:nvSpPr>
          <p:cNvPr id="28" name="TextBox 27"/>
          <p:cNvSpPr txBox="1"/>
          <p:nvPr/>
        </p:nvSpPr>
        <p:spPr>
          <a:xfrm>
            <a:off x="6677025" y="4071937"/>
            <a:ext cx="4867275" cy="361950"/>
          </a:xfrm>
          <a:prstGeom prst="rect">
            <a:avLst/>
          </a:prstGeom>
          <a:noFill/>
        </p:spPr>
        <p:txBody>
          <a:bodyPr wrap="square" lIns="0" tIns="0" rIns="0" bIns="0" anchor="t">
            <a:spAutoFit/>
          </a:bodyPr>
          <a:lstStyle/>
          <a:p>
            <a:pPr algn="l"/>
            <a:r>
              <a:rPr sz="1125" b="0" i="0" u="none">
                <a:solidFill>
                  <a:srgbClr val="CBD5E1"/>
                </a:solidFill>
                <a:latin typeface="Lato"/>
              </a:rPr>
              <a:t>SaleDetail records Quantity, Unit_Price, Unit_Cost, Discount. Composite key: (Sale_ID + Product_ID).</a:t>
            </a:r>
          </a:p>
        </p:txBody>
      </p:sp>
      <p:sp>
        <p:nvSpPr>
          <p:cNvPr id="29" name="TextBox 28"/>
          <p:cNvSpPr txBox="1"/>
          <p:nvPr/>
        </p:nvSpPr>
        <p:spPr>
          <a:xfrm>
            <a:off x="990600" y="4910137"/>
            <a:ext cx="4867275" cy="342900"/>
          </a:xfrm>
          <a:prstGeom prst="rect">
            <a:avLst/>
          </a:prstGeom>
          <a:noFill/>
        </p:spPr>
        <p:txBody>
          <a:bodyPr wrap="square" lIns="0" tIns="0" rIns="0" bIns="0" anchor="t">
            <a:spAutoFit/>
          </a:bodyPr>
          <a:lstStyle/>
          <a:p>
            <a:pPr algn="l"/>
            <a:r>
              <a:rPr sz="1125" b="0" i="0" u="none">
                <a:solidFill>
                  <a:srgbClr val="CBD5E1"/>
                </a:solidFill>
                <a:latin typeface="Lato"/>
              </a:rPr>
              <a:t>Each sale is handled by one employee, while an employee may handle many sales.</a:t>
            </a:r>
          </a:p>
        </p:txBody>
      </p:sp>
      <p:sp>
        <p:nvSpPr>
          <p:cNvPr id="30" name="TextBox 29"/>
          <p:cNvSpPr txBox="1"/>
          <p:nvPr/>
        </p:nvSpPr>
        <p:spPr>
          <a:xfrm>
            <a:off x="6677025" y="4910137"/>
            <a:ext cx="4867275" cy="342900"/>
          </a:xfrm>
          <a:prstGeom prst="rect">
            <a:avLst/>
          </a:prstGeom>
          <a:noFill/>
        </p:spPr>
        <p:txBody>
          <a:bodyPr wrap="square" lIns="0" tIns="0" rIns="0" bIns="0" anchor="t">
            <a:spAutoFit/>
          </a:bodyPr>
          <a:lstStyle/>
          <a:p>
            <a:pPr algn="l"/>
            <a:r>
              <a:rPr sz="1125" b="0" i="0" u="none">
                <a:solidFill>
                  <a:srgbClr val="CBD5E1"/>
                </a:solidFill>
                <a:latin typeface="Lato"/>
              </a:rPr>
              <a:t>Each employee works at one store; stores may have several employees or periods with no sales.</a:t>
            </a:r>
          </a:p>
        </p:txBody>
      </p:sp>
      <p:sp>
        <p:nvSpPr>
          <p:cNvPr id="31" name="TextBox 30"/>
          <p:cNvSpPr txBox="1"/>
          <p:nvPr/>
        </p:nvSpPr>
        <p:spPr>
          <a:xfrm>
            <a:off x="485775" y="485775"/>
            <a:ext cx="11706225" cy="523875"/>
          </a:xfrm>
          <a:prstGeom prst="rect">
            <a:avLst/>
          </a:prstGeom>
          <a:noFill/>
        </p:spPr>
        <p:txBody>
          <a:bodyPr wrap="square" lIns="0" tIns="0" rIns="0" bIns="0" anchor="ctr">
            <a:spAutoFit/>
          </a:bodyPr>
          <a:lstStyle/>
          <a:p>
            <a:pPr algn="l"/>
            <a:r>
              <a:rPr sz="2700" b="1" i="0" u="none">
                <a:solidFill>
                  <a:srgbClr val="F8FAFC"/>
                </a:solidFill>
                <a:latin typeface="Poppins"/>
              </a:rPr>
              <a:t>The Scenario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85775" y="1633537"/>
            <a:ext cx="11220450" cy="4400550"/>
          </a:xfrm>
          <a:prstGeom prst="rect">
            <a:avLst/>
          </a:prstGeom>
        </p:spPr>
      </p:pic>
      <p:pic>
        <p:nvPicPr>
          <p:cNvPr id="4" name="Picture 3" descr="image.png"/>
          <p:cNvPicPr>
            <a:picLocks noChangeAspect="1"/>
          </p:cNvPicPr>
          <p:nvPr/>
        </p:nvPicPr>
        <p:blipFill>
          <a:blip r:embed="rId4"/>
          <a:stretch>
            <a:fillRect/>
          </a:stretch>
        </p:blipFill>
        <p:spPr>
          <a:xfrm>
            <a:off x="485775" y="6391275"/>
            <a:ext cx="11220450" cy="266700"/>
          </a:xfrm>
          <a:prstGeom prst="rect">
            <a:avLst/>
          </a:prstGeom>
        </p:spPr>
      </p:pic>
      <p:pic>
        <p:nvPicPr>
          <p:cNvPr id="5" name="Picture 4" descr="image.png"/>
          <p:cNvPicPr>
            <a:picLocks noChangeAspect="1"/>
          </p:cNvPicPr>
          <p:nvPr/>
        </p:nvPicPr>
        <p:blipFill>
          <a:blip r:embed="rId5"/>
          <a:stretch>
            <a:fillRect/>
          </a:stretch>
        </p:blipFill>
        <p:spPr>
          <a:xfrm>
            <a:off x="10753725" y="600075"/>
            <a:ext cx="952500" cy="295275"/>
          </a:xfrm>
          <a:prstGeom prst="rect">
            <a:avLst/>
          </a:prstGeom>
        </p:spPr>
      </p:pic>
      <p:sp>
        <p:nvSpPr>
          <p:cNvPr id="6" name="TextBox 5"/>
          <p:cNvSpPr txBox="1"/>
          <p:nvPr/>
        </p:nvSpPr>
        <p:spPr>
          <a:xfrm>
            <a:off x="485775" y="6515100"/>
            <a:ext cx="1857375" cy="142875"/>
          </a:xfrm>
          <a:prstGeom prst="rect">
            <a:avLst/>
          </a:prstGeom>
          <a:noFill/>
        </p:spPr>
        <p:txBody>
          <a:bodyPr wrap="square" lIns="0" tIns="0" rIns="0" bIns="0" anchor="t">
            <a:spAutoFit/>
          </a:bodyPr>
          <a:lstStyle/>
          <a:p>
            <a:pPr algn="l"/>
            <a:r>
              <a:rPr sz="900" b="0" i="0" u="none">
                <a:solidFill>
                  <a:srgbClr val="64748B"/>
                </a:solidFill>
                <a:latin typeface="Lato"/>
              </a:rPr>
              <a:t>Smart Zone — Electronics Retail Store</a:t>
            </a:r>
          </a:p>
        </p:txBody>
      </p:sp>
      <p:sp>
        <p:nvSpPr>
          <p:cNvPr id="7" name="TextBox 6"/>
          <p:cNvSpPr txBox="1"/>
          <p:nvPr/>
        </p:nvSpPr>
        <p:spPr>
          <a:xfrm>
            <a:off x="10372725" y="6515100"/>
            <a:ext cx="1333500" cy="142875"/>
          </a:xfrm>
          <a:prstGeom prst="rect">
            <a:avLst/>
          </a:prstGeom>
          <a:noFill/>
        </p:spPr>
        <p:txBody>
          <a:bodyPr wrap="square" lIns="0" tIns="0" rIns="0" bIns="0" anchor="t">
            <a:spAutoFit/>
          </a:bodyPr>
          <a:lstStyle/>
          <a:p>
            <a:pPr algn="l"/>
            <a:r>
              <a:rPr sz="900" b="0" i="0" u="none">
                <a:solidFill>
                  <a:srgbClr val="64748B"/>
                </a:solidFill>
                <a:latin typeface="Lato"/>
              </a:rPr>
              <a:t>Conceptual Data Modeling</a:t>
            </a:r>
          </a:p>
        </p:txBody>
      </p:sp>
      <p:sp>
        <p:nvSpPr>
          <p:cNvPr id="9" name="TextBox 8"/>
          <p:cNvSpPr txBox="1"/>
          <p:nvPr/>
        </p:nvSpPr>
        <p:spPr>
          <a:xfrm>
            <a:off x="485775" y="485775"/>
            <a:ext cx="11706225" cy="523875"/>
          </a:xfrm>
          <a:prstGeom prst="rect">
            <a:avLst/>
          </a:prstGeom>
          <a:noFill/>
        </p:spPr>
        <p:txBody>
          <a:bodyPr wrap="square" lIns="0" tIns="0" rIns="0" bIns="0" anchor="ctr">
            <a:spAutoFit/>
          </a:bodyPr>
          <a:lstStyle/>
          <a:p>
            <a:pPr algn="l"/>
            <a:r>
              <a:rPr sz="2700" b="1" i="0" u="none">
                <a:solidFill>
                  <a:srgbClr val="F8FAFC"/>
                </a:solidFill>
                <a:latin typeface="Poppins"/>
              </a:rPr>
              <a:t>Conceptual ER Diagram (Chen Notation)</a:t>
            </a:r>
          </a:p>
        </p:txBody>
      </p:sp>
      <p:pic>
        <p:nvPicPr>
          <p:cNvPr id="11" name="Picture 10">
            <a:extLst>
              <a:ext uri="{FF2B5EF4-FFF2-40B4-BE49-F238E27FC236}">
                <a16:creationId xmlns:a16="http://schemas.microsoft.com/office/drawing/2014/main" id="{74B99B15-6507-EA59-01D5-68B52C2C1570}"/>
              </a:ext>
            </a:extLst>
          </p:cNvPr>
          <p:cNvPicPr>
            <a:picLocks noChangeAspect="1"/>
          </p:cNvPicPr>
          <p:nvPr/>
        </p:nvPicPr>
        <p:blipFill>
          <a:blip r:embed="rId6"/>
          <a:stretch>
            <a:fillRect/>
          </a:stretch>
        </p:blipFill>
        <p:spPr>
          <a:xfrm>
            <a:off x="464332" y="1633536"/>
            <a:ext cx="11263336" cy="447229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85775" y="6391275"/>
            <a:ext cx="11220450" cy="266700"/>
          </a:xfrm>
          <a:prstGeom prst="rect">
            <a:avLst/>
          </a:prstGeom>
        </p:spPr>
      </p:pic>
      <p:pic>
        <p:nvPicPr>
          <p:cNvPr id="4" name="Picture 3" descr="image.png"/>
          <p:cNvPicPr>
            <a:picLocks noChangeAspect="1"/>
          </p:cNvPicPr>
          <p:nvPr/>
        </p:nvPicPr>
        <p:blipFill>
          <a:blip r:embed="rId4"/>
          <a:stretch>
            <a:fillRect/>
          </a:stretch>
        </p:blipFill>
        <p:spPr>
          <a:xfrm>
            <a:off x="10753725" y="600075"/>
            <a:ext cx="952500" cy="295275"/>
          </a:xfrm>
          <a:prstGeom prst="rect">
            <a:avLst/>
          </a:prstGeom>
        </p:spPr>
      </p:pic>
      <p:sp>
        <p:nvSpPr>
          <p:cNvPr id="5" name="TextBox 4"/>
          <p:cNvSpPr txBox="1"/>
          <p:nvPr/>
        </p:nvSpPr>
        <p:spPr>
          <a:xfrm>
            <a:off x="485775" y="6515100"/>
            <a:ext cx="1857375" cy="142875"/>
          </a:xfrm>
          <a:prstGeom prst="rect">
            <a:avLst/>
          </a:prstGeom>
          <a:noFill/>
        </p:spPr>
        <p:txBody>
          <a:bodyPr wrap="square" lIns="0" tIns="0" rIns="0" bIns="0" anchor="t">
            <a:spAutoFit/>
          </a:bodyPr>
          <a:lstStyle/>
          <a:p>
            <a:pPr algn="l"/>
            <a:r>
              <a:rPr sz="900" b="0" i="0" u="none">
                <a:solidFill>
                  <a:srgbClr val="64748B"/>
                </a:solidFill>
                <a:latin typeface="Lato"/>
              </a:rPr>
              <a:t>Smart Zone — Electronics Retail Store</a:t>
            </a:r>
          </a:p>
        </p:txBody>
      </p:sp>
      <p:sp>
        <p:nvSpPr>
          <p:cNvPr id="6" name="TextBox 5"/>
          <p:cNvSpPr txBox="1"/>
          <p:nvPr/>
        </p:nvSpPr>
        <p:spPr>
          <a:xfrm>
            <a:off x="10248900" y="6515100"/>
            <a:ext cx="1457325" cy="142875"/>
          </a:xfrm>
          <a:prstGeom prst="rect">
            <a:avLst/>
          </a:prstGeom>
          <a:noFill/>
        </p:spPr>
        <p:txBody>
          <a:bodyPr wrap="square" lIns="0" tIns="0" rIns="0" bIns="0" anchor="t">
            <a:spAutoFit/>
          </a:bodyPr>
          <a:lstStyle/>
          <a:p>
            <a:pPr algn="l"/>
            <a:r>
              <a:rPr sz="900" b="0" i="0" u="none">
                <a:solidFill>
                  <a:srgbClr val="64748B"/>
                </a:solidFill>
                <a:latin typeface="Lato"/>
              </a:rPr>
              <a:t>Relational Database Mapping</a:t>
            </a:r>
          </a:p>
        </p:txBody>
      </p:sp>
      <p:graphicFrame>
        <p:nvGraphicFramePr>
          <p:cNvPr id="7" name="Table 6"/>
          <p:cNvGraphicFramePr>
            <a:graphicFrameLocks noGrp="1"/>
          </p:cNvGraphicFramePr>
          <p:nvPr/>
        </p:nvGraphicFramePr>
        <p:xfrm>
          <a:off x="485775" y="2081212"/>
          <a:ext cx="11220449" cy="3505200"/>
        </p:xfrm>
        <a:graphic>
          <a:graphicData uri="http://schemas.openxmlformats.org/drawingml/2006/table">
            <a:tbl>
              <a:tblPr firstRow="1" bandRow="1">
                <a:tableStyleId>{5C22544A-7EE6-4342-B048-85BDC9FD1C3A}</a:tableStyleId>
              </a:tblPr>
              <a:tblGrid>
                <a:gridCol w="2244030">
                  <a:extLst>
                    <a:ext uri="{9D8B030D-6E8A-4147-A177-3AD203B41FA5}">
                      <a16:colId xmlns:a16="http://schemas.microsoft.com/office/drawing/2014/main" val="20000"/>
                    </a:ext>
                  </a:extLst>
                </a:gridCol>
                <a:gridCol w="8976419">
                  <a:extLst>
                    <a:ext uri="{9D8B030D-6E8A-4147-A177-3AD203B41FA5}">
                      <a16:colId xmlns:a16="http://schemas.microsoft.com/office/drawing/2014/main" val="20001"/>
                    </a:ext>
                  </a:extLst>
                </a:gridCol>
              </a:tblGrid>
              <a:tr h="500742">
                <a:tc>
                  <a:txBody>
                    <a:bodyPr/>
                    <a:lstStyle/>
                    <a:p>
                      <a:pPr algn="l"/>
                      <a:r>
                        <a:rPr sz="1200" b="1" i="0" u="none">
                          <a:solidFill>
                            <a:srgbClr val="38BDF8"/>
                          </a:solidFill>
                          <a:latin typeface="Poppins"/>
                        </a:rPr>
                        <a:t>Table Name</a:t>
                      </a:r>
                    </a:p>
                  </a:txBody>
                  <a:tcPr marL="63500" marR="63500" marT="25400" marB="25400" anchor="ctr">
                    <a:lnL>
                      <a:noFill/>
                    </a:lnL>
                    <a:lnR>
                      <a:noFill/>
                    </a:lnR>
                    <a:lnT>
                      <a:noFill/>
                    </a:lnT>
                    <a:lnB>
                      <a:noFill/>
                    </a:lnB>
                    <a:solidFill>
                      <a:srgbClr val="141C2E"/>
                    </a:solidFill>
                  </a:tcPr>
                </a:tc>
                <a:tc>
                  <a:txBody>
                    <a:bodyPr/>
                    <a:lstStyle/>
                    <a:p>
                      <a:pPr algn="l"/>
                      <a:r>
                        <a:rPr sz="1200" b="1" i="0" u="none">
                          <a:solidFill>
                            <a:srgbClr val="38BDF8"/>
                          </a:solidFill>
                          <a:latin typeface="Poppins"/>
                        </a:rPr>
                        <a:t>Columns &amp; Key Specifications</a:t>
                      </a:r>
                    </a:p>
                  </a:txBody>
                  <a:tcPr marL="63500" marR="63500" marT="25400" marB="25400" anchor="ctr">
                    <a:lnL>
                      <a:noFill/>
                    </a:lnL>
                    <a:lnR>
                      <a:noFill/>
                    </a:lnR>
                    <a:lnT>
                      <a:noFill/>
                    </a:lnT>
                    <a:lnB>
                      <a:noFill/>
                    </a:lnB>
                    <a:solidFill>
                      <a:srgbClr val="141C2E"/>
                    </a:solidFill>
                  </a:tcPr>
                </a:tc>
                <a:extLst>
                  <a:ext uri="{0D108BD9-81ED-4DB2-BD59-A6C34878D82A}">
                    <a16:rowId xmlns:a16="http://schemas.microsoft.com/office/drawing/2014/main" val="10000"/>
                  </a:ext>
                </a:extLst>
              </a:tr>
              <a:tr h="500742">
                <a:tc>
                  <a:txBody>
                    <a:bodyPr/>
                    <a:lstStyle/>
                    <a:p>
                      <a:pPr algn="l"/>
                      <a:r>
                        <a:rPr sz="1125" b="1" i="0" u="none">
                          <a:solidFill>
                            <a:srgbClr val="CBD5E1"/>
                          </a:solidFill>
                          <a:latin typeface="Lato"/>
                        </a:rPr>
                        <a:t>CUSTOMER</a:t>
                      </a:r>
                    </a:p>
                  </a:txBody>
                  <a:tcPr marL="63500" marR="63500" marT="25400" marB="25400" anchor="ctr">
                    <a:lnL>
                      <a:noFill/>
                    </a:lnL>
                    <a:lnR>
                      <a:noFill/>
                    </a:lnR>
                    <a:lnT>
                      <a:noFill/>
                    </a:lnT>
                    <a:lnB>
                      <a:noFill/>
                    </a:lnB>
                    <a:noFill/>
                  </a:tcPr>
                </a:tc>
                <a:tc>
                  <a:txBody>
                    <a:bodyPr/>
                    <a:lstStyle/>
                    <a:p>
                      <a:pPr algn="l"/>
                      <a:r>
                        <a:rPr sz="1125" b="0" i="0" u="none">
                          <a:solidFill>
                            <a:srgbClr val="CBD5E1"/>
                          </a:solidFill>
                          <a:latin typeface="Lato"/>
                        </a:rPr>
                        <a:t>Customer_ID (PK), Name, City, Gender, Age, Customer_Segment, Registration_Date</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1"/>
                  </a:ext>
                </a:extLst>
              </a:tr>
              <a:tr h="500742">
                <a:tc>
                  <a:txBody>
                    <a:bodyPr/>
                    <a:lstStyle/>
                    <a:p>
                      <a:pPr algn="l"/>
                      <a:r>
                        <a:rPr sz="1125" b="1" i="0" u="none">
                          <a:solidFill>
                            <a:srgbClr val="CBD5E1"/>
                          </a:solidFill>
                          <a:latin typeface="Lato"/>
                        </a:rPr>
                        <a:t>STORE</a:t>
                      </a:r>
                    </a:p>
                  </a:txBody>
                  <a:tcPr marL="63500" marR="63500" marT="25400" marB="25400" anchor="ctr">
                    <a:lnL>
                      <a:noFill/>
                    </a:lnL>
                    <a:lnR>
                      <a:noFill/>
                    </a:lnR>
                    <a:lnT>
                      <a:noFill/>
                    </a:lnT>
                    <a:lnB>
                      <a:noFill/>
                    </a:lnB>
                    <a:noFill/>
                  </a:tcPr>
                </a:tc>
                <a:tc>
                  <a:txBody>
                    <a:bodyPr/>
                    <a:lstStyle/>
                    <a:p>
                      <a:pPr algn="l"/>
                      <a:r>
                        <a:rPr sz="1125" b="0" i="0" u="none">
                          <a:solidFill>
                            <a:srgbClr val="CBD5E1"/>
                          </a:solidFill>
                          <a:latin typeface="Lato"/>
                        </a:rPr>
                        <a:t>Store_ID (PK), Store_Name, City, Region, Store_Type, Opening_Date</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2"/>
                  </a:ext>
                </a:extLst>
              </a:tr>
              <a:tr h="500742">
                <a:tc>
                  <a:txBody>
                    <a:bodyPr/>
                    <a:lstStyle/>
                    <a:p>
                      <a:pPr algn="l"/>
                      <a:r>
                        <a:rPr sz="1125" b="1" i="0" u="none">
                          <a:solidFill>
                            <a:srgbClr val="CBD5E1"/>
                          </a:solidFill>
                          <a:latin typeface="Lato"/>
                        </a:rPr>
                        <a:t>EMPLOYEE</a:t>
                      </a:r>
                    </a:p>
                  </a:txBody>
                  <a:tcPr marL="63500" marR="63500" marT="25400" marB="25400" anchor="ctr">
                    <a:lnL>
                      <a:noFill/>
                    </a:lnL>
                    <a:lnR>
                      <a:noFill/>
                    </a:lnR>
                    <a:lnT>
                      <a:noFill/>
                    </a:lnT>
                    <a:lnB>
                      <a:noFill/>
                    </a:lnB>
                    <a:noFill/>
                  </a:tcPr>
                </a:tc>
                <a:tc>
                  <a:txBody>
                    <a:bodyPr/>
                    <a:lstStyle/>
                    <a:p>
                      <a:pPr algn="l"/>
                      <a:r>
                        <a:rPr sz="1125" b="0" i="0" u="none">
                          <a:solidFill>
                            <a:srgbClr val="CBD5E1"/>
                          </a:solidFill>
                          <a:latin typeface="Lato"/>
                        </a:rPr>
                        <a:t>Employee_ID (PK), Name, Gender, Hire_Date, Job_Title, Store_ID (FK)</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3"/>
                  </a:ext>
                </a:extLst>
              </a:tr>
              <a:tr h="500742">
                <a:tc>
                  <a:txBody>
                    <a:bodyPr/>
                    <a:lstStyle/>
                    <a:p>
                      <a:pPr algn="l"/>
                      <a:r>
                        <a:rPr sz="1125" b="1" i="0" u="none">
                          <a:solidFill>
                            <a:srgbClr val="CBD5E1"/>
                          </a:solidFill>
                          <a:latin typeface="Lato"/>
                        </a:rPr>
                        <a:t>SALE</a:t>
                      </a:r>
                    </a:p>
                  </a:txBody>
                  <a:tcPr marL="63500" marR="63500" marT="25400" marB="25400" anchor="ctr">
                    <a:lnL>
                      <a:noFill/>
                    </a:lnL>
                    <a:lnR>
                      <a:noFill/>
                    </a:lnR>
                    <a:lnT>
                      <a:noFill/>
                    </a:lnT>
                    <a:lnB>
                      <a:noFill/>
                    </a:lnB>
                    <a:noFill/>
                  </a:tcPr>
                </a:tc>
                <a:tc>
                  <a:txBody>
                    <a:bodyPr/>
                    <a:lstStyle/>
                    <a:p>
                      <a:pPr algn="l"/>
                      <a:r>
                        <a:rPr sz="1125" b="0" i="0" u="none">
                          <a:solidFill>
                            <a:srgbClr val="CBD5E1"/>
                          </a:solidFill>
                          <a:latin typeface="Lato"/>
                        </a:rPr>
                        <a:t>Sale_ID (PK), Sale_Date, Payment_Method, Order_Status, Customer_ID (FK), Store_ID (FK), Employee_ID (FK)</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4"/>
                  </a:ext>
                </a:extLst>
              </a:tr>
              <a:tr h="500742">
                <a:tc>
                  <a:txBody>
                    <a:bodyPr/>
                    <a:lstStyle/>
                    <a:p>
                      <a:pPr algn="l"/>
                      <a:r>
                        <a:rPr sz="1125" b="1" i="0" u="none">
                          <a:solidFill>
                            <a:srgbClr val="F59E0B"/>
                          </a:solidFill>
                          <a:latin typeface="Lato"/>
                        </a:rPr>
                        <a:t>SALEDETAIL (weak)</a:t>
                      </a:r>
                    </a:p>
                  </a:txBody>
                  <a:tcPr marL="63500" marR="63500" marT="25400" marB="25400" anchor="ctr">
                    <a:lnL>
                      <a:noFill/>
                    </a:lnL>
                    <a:lnR>
                      <a:noFill/>
                    </a:lnR>
                    <a:lnT>
                      <a:noFill/>
                    </a:lnT>
                    <a:lnB>
                      <a:noFill/>
                    </a:lnB>
                    <a:noFill/>
                  </a:tcPr>
                </a:tc>
                <a:tc>
                  <a:txBody>
                    <a:bodyPr/>
                    <a:lstStyle/>
                    <a:p>
                      <a:pPr algn="l"/>
                      <a:r>
                        <a:rPr sz="1125" b="0" i="0" u="none">
                          <a:solidFill>
                            <a:srgbClr val="CBD5E1"/>
                          </a:solidFill>
                          <a:latin typeface="Lato"/>
                        </a:rPr>
                        <a:t>Sale_ID (PK, FK), Product_ID (PK, FK), Quantity, Unit_Price, Unit_Cost, Discount</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5"/>
                  </a:ext>
                </a:extLst>
              </a:tr>
              <a:tr h="500748">
                <a:tc>
                  <a:txBody>
                    <a:bodyPr/>
                    <a:lstStyle/>
                    <a:p>
                      <a:pPr algn="l"/>
                      <a:r>
                        <a:rPr sz="1125" b="1" i="0" u="none">
                          <a:solidFill>
                            <a:srgbClr val="CBD5E1"/>
                          </a:solidFill>
                          <a:latin typeface="Lato"/>
                        </a:rPr>
                        <a:t>PRODUCT</a:t>
                      </a:r>
                    </a:p>
                  </a:txBody>
                  <a:tcPr marL="63500" marR="63500" marT="25400" marB="25400" anchor="ctr">
                    <a:lnL>
                      <a:noFill/>
                    </a:lnL>
                    <a:lnR>
                      <a:noFill/>
                    </a:lnR>
                    <a:lnT>
                      <a:noFill/>
                    </a:lnT>
                    <a:lnB>
                      <a:noFill/>
                    </a:lnB>
                    <a:noFill/>
                  </a:tcPr>
                </a:tc>
                <a:tc>
                  <a:txBody>
                    <a:bodyPr/>
                    <a:lstStyle/>
                    <a:p>
                      <a:pPr algn="l"/>
                      <a:r>
                        <a:rPr sz="1125" b="0" i="0" u="none">
                          <a:solidFill>
                            <a:srgbClr val="CBD5E1"/>
                          </a:solidFill>
                          <a:latin typeface="Lato"/>
                        </a:rPr>
                        <a:t>Product_ID (PK), Product_Name, Brand, Category, Unit_Cost, Unit_Price, Stock_Quantity, Product_Rating</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6"/>
                  </a:ext>
                </a:extLst>
              </a:tr>
            </a:tbl>
          </a:graphicData>
        </a:graphic>
      </p:graphicFrame>
      <p:sp>
        <p:nvSpPr>
          <p:cNvPr id="8" name="Rectangle 7"/>
          <p:cNvSpPr/>
          <p:nvPr/>
        </p:nvSpPr>
        <p:spPr>
          <a:xfrm>
            <a:off x="485775" y="2571750"/>
            <a:ext cx="2244030" cy="9525"/>
          </a:xfrm>
          <a:prstGeom prst="rect">
            <a:avLst/>
          </a:prstGeom>
          <a:solidFill>
            <a:srgbClr val="243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29805" y="2571750"/>
            <a:ext cx="8976419" cy="9525"/>
          </a:xfrm>
          <a:prstGeom prst="rect">
            <a:avLst/>
          </a:prstGeom>
          <a:solidFill>
            <a:srgbClr val="243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85775" y="3071812"/>
            <a:ext cx="2244030" cy="9525"/>
          </a:xfrm>
          <a:prstGeom prst="rect">
            <a:avLst/>
          </a:prstGeom>
          <a:solidFill>
            <a:srgbClr val="243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729805" y="3071812"/>
            <a:ext cx="8976419" cy="9525"/>
          </a:xfrm>
          <a:prstGeom prst="rect">
            <a:avLst/>
          </a:prstGeom>
          <a:solidFill>
            <a:srgbClr val="243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85775" y="3571875"/>
            <a:ext cx="2244030" cy="9525"/>
          </a:xfrm>
          <a:prstGeom prst="rect">
            <a:avLst/>
          </a:prstGeom>
          <a:solidFill>
            <a:srgbClr val="243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729805" y="3571875"/>
            <a:ext cx="8976419" cy="9525"/>
          </a:xfrm>
          <a:prstGeom prst="rect">
            <a:avLst/>
          </a:prstGeom>
          <a:solidFill>
            <a:srgbClr val="243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85775" y="4071937"/>
            <a:ext cx="2244030" cy="9525"/>
          </a:xfrm>
          <a:prstGeom prst="rect">
            <a:avLst/>
          </a:prstGeom>
          <a:solidFill>
            <a:srgbClr val="243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729805" y="4071937"/>
            <a:ext cx="8976419" cy="9525"/>
          </a:xfrm>
          <a:prstGeom prst="rect">
            <a:avLst/>
          </a:prstGeom>
          <a:solidFill>
            <a:srgbClr val="243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85775" y="4572000"/>
            <a:ext cx="2244030" cy="9525"/>
          </a:xfrm>
          <a:prstGeom prst="rect">
            <a:avLst/>
          </a:prstGeom>
          <a:solidFill>
            <a:srgbClr val="243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729805" y="4572000"/>
            <a:ext cx="8976419" cy="9525"/>
          </a:xfrm>
          <a:prstGeom prst="rect">
            <a:avLst/>
          </a:prstGeom>
          <a:solidFill>
            <a:srgbClr val="243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85775" y="5072062"/>
            <a:ext cx="2244030" cy="9525"/>
          </a:xfrm>
          <a:prstGeom prst="rect">
            <a:avLst/>
          </a:prstGeom>
          <a:solidFill>
            <a:srgbClr val="243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729805" y="5072062"/>
            <a:ext cx="8976419" cy="9525"/>
          </a:xfrm>
          <a:prstGeom prst="rect">
            <a:avLst/>
          </a:prstGeom>
          <a:solidFill>
            <a:srgbClr val="243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85775" y="5572125"/>
            <a:ext cx="2244030" cy="9525"/>
          </a:xfrm>
          <a:prstGeom prst="rect">
            <a:avLst/>
          </a:prstGeom>
          <a:solidFill>
            <a:srgbClr val="243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729805" y="5572125"/>
            <a:ext cx="8976419" cy="9525"/>
          </a:xfrm>
          <a:prstGeom prst="rect">
            <a:avLst/>
          </a:prstGeom>
          <a:solidFill>
            <a:srgbClr val="243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85775" y="485775"/>
            <a:ext cx="11706225" cy="523875"/>
          </a:xfrm>
          <a:prstGeom prst="rect">
            <a:avLst/>
          </a:prstGeom>
          <a:noFill/>
        </p:spPr>
        <p:txBody>
          <a:bodyPr wrap="square" lIns="0" tIns="0" rIns="0" bIns="0" anchor="ctr">
            <a:spAutoFit/>
          </a:bodyPr>
          <a:lstStyle/>
          <a:p>
            <a:pPr algn="l"/>
            <a:r>
              <a:rPr sz="2700" b="1" i="0" u="none">
                <a:solidFill>
                  <a:srgbClr val="F8FAFC"/>
                </a:solidFill>
                <a:latin typeface="Poppins"/>
              </a:rPr>
              <a:t>Relational Schema Mapping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85775" y="2440781"/>
            <a:ext cx="3587650" cy="2786062"/>
          </a:xfrm>
          <a:prstGeom prst="rect">
            <a:avLst/>
          </a:prstGeom>
        </p:spPr>
      </p:pic>
      <p:pic>
        <p:nvPicPr>
          <p:cNvPr id="4" name="Picture 3" descr="image.png"/>
          <p:cNvPicPr>
            <a:picLocks noChangeAspect="1"/>
          </p:cNvPicPr>
          <p:nvPr/>
        </p:nvPicPr>
        <p:blipFill>
          <a:blip r:embed="rId4"/>
          <a:stretch>
            <a:fillRect/>
          </a:stretch>
        </p:blipFill>
        <p:spPr>
          <a:xfrm>
            <a:off x="4302025" y="2440781"/>
            <a:ext cx="3587799" cy="2786062"/>
          </a:xfrm>
          <a:prstGeom prst="rect">
            <a:avLst/>
          </a:prstGeom>
        </p:spPr>
      </p:pic>
      <p:pic>
        <p:nvPicPr>
          <p:cNvPr id="5" name="Picture 4" descr="image.png"/>
          <p:cNvPicPr>
            <a:picLocks noChangeAspect="1"/>
          </p:cNvPicPr>
          <p:nvPr/>
        </p:nvPicPr>
        <p:blipFill>
          <a:blip r:embed="rId5"/>
          <a:stretch>
            <a:fillRect/>
          </a:stretch>
        </p:blipFill>
        <p:spPr>
          <a:xfrm>
            <a:off x="8118425" y="2440781"/>
            <a:ext cx="3587650" cy="2786062"/>
          </a:xfrm>
          <a:prstGeom prst="rect">
            <a:avLst/>
          </a:prstGeom>
        </p:spPr>
      </p:pic>
      <p:pic>
        <p:nvPicPr>
          <p:cNvPr id="6" name="Picture 5" descr="image.png"/>
          <p:cNvPicPr>
            <a:picLocks noChangeAspect="1"/>
          </p:cNvPicPr>
          <p:nvPr/>
        </p:nvPicPr>
        <p:blipFill>
          <a:blip r:embed="rId6"/>
          <a:stretch>
            <a:fillRect/>
          </a:stretch>
        </p:blipFill>
        <p:spPr>
          <a:xfrm>
            <a:off x="485775" y="6391275"/>
            <a:ext cx="11220450" cy="266700"/>
          </a:xfrm>
          <a:prstGeom prst="rect">
            <a:avLst/>
          </a:prstGeom>
        </p:spPr>
      </p:pic>
      <p:pic>
        <p:nvPicPr>
          <p:cNvPr id="7" name="Picture 6" descr="image.png"/>
          <p:cNvPicPr>
            <a:picLocks noChangeAspect="1"/>
          </p:cNvPicPr>
          <p:nvPr/>
        </p:nvPicPr>
        <p:blipFill>
          <a:blip r:embed="rId7"/>
          <a:stretch>
            <a:fillRect/>
          </a:stretch>
        </p:blipFill>
        <p:spPr>
          <a:xfrm>
            <a:off x="10753725" y="600075"/>
            <a:ext cx="952500" cy="295275"/>
          </a:xfrm>
          <a:prstGeom prst="rect">
            <a:avLst/>
          </a:prstGeom>
        </p:spPr>
      </p:pic>
      <p:sp>
        <p:nvSpPr>
          <p:cNvPr id="8" name="TextBox 7"/>
          <p:cNvSpPr txBox="1"/>
          <p:nvPr/>
        </p:nvSpPr>
        <p:spPr>
          <a:xfrm>
            <a:off x="485775" y="6515100"/>
            <a:ext cx="1857375" cy="142875"/>
          </a:xfrm>
          <a:prstGeom prst="rect">
            <a:avLst/>
          </a:prstGeom>
          <a:noFill/>
        </p:spPr>
        <p:txBody>
          <a:bodyPr wrap="square" lIns="0" tIns="0" rIns="0" bIns="0" anchor="t">
            <a:spAutoFit/>
          </a:bodyPr>
          <a:lstStyle/>
          <a:p>
            <a:pPr algn="l"/>
            <a:r>
              <a:rPr sz="900" b="0" i="0" u="none">
                <a:solidFill>
                  <a:srgbClr val="64748B"/>
                </a:solidFill>
                <a:latin typeface="Lato"/>
              </a:rPr>
              <a:t>Smart Zone — Electronics Retail Store</a:t>
            </a:r>
          </a:p>
        </p:txBody>
      </p:sp>
      <p:sp>
        <p:nvSpPr>
          <p:cNvPr id="9" name="TextBox 8"/>
          <p:cNvSpPr txBox="1"/>
          <p:nvPr/>
        </p:nvSpPr>
        <p:spPr>
          <a:xfrm>
            <a:off x="10344150" y="6515100"/>
            <a:ext cx="1362075" cy="142875"/>
          </a:xfrm>
          <a:prstGeom prst="rect">
            <a:avLst/>
          </a:prstGeom>
          <a:noFill/>
        </p:spPr>
        <p:txBody>
          <a:bodyPr wrap="square" lIns="0" tIns="0" rIns="0" bIns="0" anchor="t">
            <a:spAutoFit/>
          </a:bodyPr>
          <a:lstStyle/>
          <a:p>
            <a:pPr algn="l"/>
            <a:r>
              <a:rPr sz="900" b="0" i="0" u="none">
                <a:solidFill>
                  <a:srgbClr val="64748B"/>
                </a:solidFill>
                <a:latin typeface="Lato"/>
              </a:rPr>
              <a:t>Data Dictionary Definitions</a:t>
            </a:r>
          </a:p>
        </p:txBody>
      </p:sp>
      <p:sp>
        <p:nvSpPr>
          <p:cNvPr id="10" name="TextBox 9"/>
          <p:cNvSpPr txBox="1"/>
          <p:nvPr/>
        </p:nvSpPr>
        <p:spPr>
          <a:xfrm>
            <a:off x="723900" y="2678906"/>
            <a:ext cx="3266970" cy="314325"/>
          </a:xfrm>
          <a:prstGeom prst="rect">
            <a:avLst/>
          </a:prstGeom>
          <a:noFill/>
        </p:spPr>
        <p:txBody>
          <a:bodyPr wrap="square" lIns="0" tIns="0" rIns="0" bIns="0" anchor="t">
            <a:spAutoFit/>
          </a:bodyPr>
          <a:lstStyle/>
          <a:p>
            <a:pPr algn="l"/>
            <a:r>
              <a:rPr sz="1650" b="0" i="0" u="none">
                <a:solidFill>
                  <a:srgbClr val="38BDF8"/>
                </a:solidFill>
                <a:latin typeface="Poppins SemiBold"/>
              </a:rPr>
              <a:t>1. Customers</a:t>
            </a:r>
          </a:p>
        </p:txBody>
      </p:sp>
      <p:sp>
        <p:nvSpPr>
          <p:cNvPr id="11" name="TextBox 10"/>
          <p:cNvSpPr txBox="1"/>
          <p:nvPr/>
        </p:nvSpPr>
        <p:spPr>
          <a:xfrm>
            <a:off x="4540150" y="2678906"/>
            <a:ext cx="3267127" cy="314325"/>
          </a:xfrm>
          <a:prstGeom prst="rect">
            <a:avLst/>
          </a:prstGeom>
          <a:noFill/>
        </p:spPr>
        <p:txBody>
          <a:bodyPr wrap="square" lIns="0" tIns="0" rIns="0" bIns="0" anchor="t">
            <a:spAutoFit/>
          </a:bodyPr>
          <a:lstStyle/>
          <a:p>
            <a:pPr algn="l"/>
            <a:r>
              <a:rPr sz="1650" b="0" i="0" u="none">
                <a:solidFill>
                  <a:srgbClr val="38BDF8"/>
                </a:solidFill>
                <a:latin typeface="Poppins SemiBold"/>
              </a:rPr>
              <a:t>2. Products</a:t>
            </a:r>
          </a:p>
        </p:txBody>
      </p:sp>
      <p:sp>
        <p:nvSpPr>
          <p:cNvPr id="12" name="TextBox 11"/>
          <p:cNvSpPr txBox="1"/>
          <p:nvPr/>
        </p:nvSpPr>
        <p:spPr>
          <a:xfrm>
            <a:off x="8356550" y="2678906"/>
            <a:ext cx="3266970" cy="314325"/>
          </a:xfrm>
          <a:prstGeom prst="rect">
            <a:avLst/>
          </a:prstGeom>
          <a:noFill/>
        </p:spPr>
        <p:txBody>
          <a:bodyPr wrap="square" lIns="0" tIns="0" rIns="0" bIns="0" anchor="t">
            <a:spAutoFit/>
          </a:bodyPr>
          <a:lstStyle/>
          <a:p>
            <a:pPr algn="l"/>
            <a:r>
              <a:rPr sz="1650" b="0" i="0" u="none">
                <a:solidFill>
                  <a:srgbClr val="38BDF8"/>
                </a:solidFill>
                <a:latin typeface="Poppins SemiBold"/>
              </a:rPr>
              <a:t>3. Stores</a:t>
            </a:r>
          </a:p>
        </p:txBody>
      </p:sp>
      <p:sp>
        <p:nvSpPr>
          <p:cNvPr id="13" name="TextBox 12"/>
          <p:cNvSpPr txBox="1"/>
          <p:nvPr/>
        </p:nvSpPr>
        <p:spPr>
          <a:xfrm>
            <a:off x="1028700" y="3107531"/>
            <a:ext cx="2806600" cy="242887"/>
          </a:xfrm>
          <a:prstGeom prst="rect">
            <a:avLst/>
          </a:prstGeom>
          <a:noFill/>
        </p:spPr>
        <p:txBody>
          <a:bodyPr wrap="square" lIns="0" tIns="0" rIns="0" bIns="0" anchor="t">
            <a:spAutoFit/>
          </a:bodyPr>
          <a:lstStyle/>
          <a:p>
            <a:pPr algn="l">
              <a:lnSpc>
                <a:spcPts val="1912"/>
              </a:lnSpc>
            </a:pPr>
            <a:r>
              <a:rPr sz="1275" b="1" i="0" u="none">
                <a:solidFill>
                  <a:srgbClr val="CBD5E1"/>
                </a:solidFill>
                <a:latin typeface="Lato"/>
              </a:rPr>
              <a:t>CustomerID:</a:t>
            </a:r>
            <a:r>
              <a:rPr sz="1275" b="0" i="0" u="none">
                <a:solidFill>
                  <a:srgbClr val="CBD5E1"/>
                </a:solidFill>
                <a:latin typeface="Lato"/>
              </a:rPr>
              <a:t> Unique ID </a:t>
            </a:r>
            <a:r>
              <a:rPr sz="1275" b="0" i="0" u="none">
                <a:solidFill>
                  <a:srgbClr val="F59E0B"/>
                </a:solidFill>
                <a:latin typeface="Lato"/>
              </a:rPr>
              <a:t>(PK)</a:t>
            </a:r>
          </a:p>
        </p:txBody>
      </p:sp>
      <p:sp>
        <p:nvSpPr>
          <p:cNvPr id="14" name="TextBox 13"/>
          <p:cNvSpPr txBox="1"/>
          <p:nvPr/>
        </p:nvSpPr>
        <p:spPr>
          <a:xfrm>
            <a:off x="1028700" y="3483768"/>
            <a:ext cx="2806600" cy="242887"/>
          </a:xfrm>
          <a:prstGeom prst="rect">
            <a:avLst/>
          </a:prstGeom>
          <a:noFill/>
        </p:spPr>
        <p:txBody>
          <a:bodyPr wrap="square" lIns="0" tIns="0" rIns="0" bIns="0" anchor="t">
            <a:spAutoFit/>
          </a:bodyPr>
          <a:lstStyle/>
          <a:p>
            <a:pPr algn="l">
              <a:lnSpc>
                <a:spcPts val="1912"/>
              </a:lnSpc>
            </a:pPr>
            <a:r>
              <a:rPr sz="1275" b="1" i="0" u="none">
                <a:solidFill>
                  <a:srgbClr val="CBD5E1"/>
                </a:solidFill>
                <a:latin typeface="Lato"/>
              </a:rPr>
              <a:t>CustomerName:</a:t>
            </a:r>
            <a:r>
              <a:rPr sz="1275" b="0" i="0" u="none">
                <a:solidFill>
                  <a:srgbClr val="CBD5E1"/>
                </a:solidFill>
                <a:latin typeface="Lato"/>
              </a:rPr>
              <a:t> Full name</a:t>
            </a:r>
          </a:p>
        </p:txBody>
      </p:sp>
      <p:sp>
        <p:nvSpPr>
          <p:cNvPr id="15" name="TextBox 14"/>
          <p:cNvSpPr txBox="1"/>
          <p:nvPr/>
        </p:nvSpPr>
        <p:spPr>
          <a:xfrm>
            <a:off x="1028700" y="3860006"/>
            <a:ext cx="2806600" cy="242887"/>
          </a:xfrm>
          <a:prstGeom prst="rect">
            <a:avLst/>
          </a:prstGeom>
          <a:noFill/>
        </p:spPr>
        <p:txBody>
          <a:bodyPr wrap="square" lIns="0" tIns="0" rIns="0" bIns="0" anchor="t">
            <a:spAutoFit/>
          </a:bodyPr>
          <a:lstStyle/>
          <a:p>
            <a:pPr algn="l">
              <a:lnSpc>
                <a:spcPts val="1912"/>
              </a:lnSpc>
            </a:pPr>
            <a:r>
              <a:rPr sz="1275" b="1" i="0" u="none">
                <a:solidFill>
                  <a:srgbClr val="CBD5E1"/>
                </a:solidFill>
                <a:latin typeface="Lato"/>
              </a:rPr>
              <a:t>Gender / Age / City:</a:t>
            </a:r>
            <a:r>
              <a:rPr sz="1275" b="0" i="0" u="none">
                <a:solidFill>
                  <a:srgbClr val="CBD5E1"/>
                </a:solidFill>
                <a:latin typeface="Lato"/>
              </a:rPr>
              <a:t> Demographics</a:t>
            </a:r>
          </a:p>
        </p:txBody>
      </p:sp>
      <p:sp>
        <p:nvSpPr>
          <p:cNvPr id="16" name="TextBox 15"/>
          <p:cNvSpPr txBox="1"/>
          <p:nvPr/>
        </p:nvSpPr>
        <p:spPr>
          <a:xfrm>
            <a:off x="1028700" y="4236243"/>
            <a:ext cx="2806600" cy="242887"/>
          </a:xfrm>
          <a:prstGeom prst="rect">
            <a:avLst/>
          </a:prstGeom>
          <a:noFill/>
        </p:spPr>
        <p:txBody>
          <a:bodyPr wrap="square" lIns="0" tIns="0" rIns="0" bIns="0" anchor="t">
            <a:spAutoFit/>
          </a:bodyPr>
          <a:lstStyle/>
          <a:p>
            <a:pPr algn="l">
              <a:lnSpc>
                <a:spcPts val="1912"/>
              </a:lnSpc>
            </a:pPr>
            <a:r>
              <a:rPr sz="1275" b="1" i="0" u="none">
                <a:solidFill>
                  <a:srgbClr val="CBD5E1"/>
                </a:solidFill>
                <a:latin typeface="Lato"/>
              </a:rPr>
              <a:t>CustomerSegment:</a:t>
            </a:r>
            <a:r>
              <a:rPr sz="1275" b="0" i="0" u="none">
                <a:solidFill>
                  <a:srgbClr val="CBD5E1"/>
                </a:solidFill>
                <a:latin typeface="Lato"/>
              </a:rPr>
              <a:t> Classification</a:t>
            </a:r>
          </a:p>
        </p:txBody>
      </p:sp>
      <p:sp>
        <p:nvSpPr>
          <p:cNvPr id="17" name="TextBox 16"/>
          <p:cNvSpPr txBox="1"/>
          <p:nvPr/>
        </p:nvSpPr>
        <p:spPr>
          <a:xfrm>
            <a:off x="1028700" y="4612481"/>
            <a:ext cx="2806600" cy="242887"/>
          </a:xfrm>
          <a:prstGeom prst="rect">
            <a:avLst/>
          </a:prstGeom>
          <a:noFill/>
        </p:spPr>
        <p:txBody>
          <a:bodyPr wrap="square" lIns="0" tIns="0" rIns="0" bIns="0" anchor="t">
            <a:spAutoFit/>
          </a:bodyPr>
          <a:lstStyle/>
          <a:p>
            <a:pPr algn="l">
              <a:lnSpc>
                <a:spcPts val="1912"/>
              </a:lnSpc>
            </a:pPr>
            <a:r>
              <a:rPr sz="1275" b="1" i="0" u="none">
                <a:solidFill>
                  <a:srgbClr val="CBD5E1"/>
                </a:solidFill>
                <a:latin typeface="Lato"/>
              </a:rPr>
              <a:t>Registration Date:</a:t>
            </a:r>
            <a:r>
              <a:rPr sz="1275" b="0" i="0" u="none">
                <a:solidFill>
                  <a:srgbClr val="CBD5E1"/>
                </a:solidFill>
                <a:latin typeface="Lato"/>
              </a:rPr>
              <a:t> Sign-up date</a:t>
            </a:r>
          </a:p>
        </p:txBody>
      </p:sp>
      <p:sp>
        <p:nvSpPr>
          <p:cNvPr id="18" name="TextBox 17"/>
          <p:cNvSpPr txBox="1"/>
          <p:nvPr/>
        </p:nvSpPr>
        <p:spPr>
          <a:xfrm>
            <a:off x="4844950" y="3107531"/>
            <a:ext cx="2806749" cy="242887"/>
          </a:xfrm>
          <a:prstGeom prst="rect">
            <a:avLst/>
          </a:prstGeom>
          <a:noFill/>
        </p:spPr>
        <p:txBody>
          <a:bodyPr wrap="square" lIns="0" tIns="0" rIns="0" bIns="0" anchor="t">
            <a:spAutoFit/>
          </a:bodyPr>
          <a:lstStyle/>
          <a:p>
            <a:pPr algn="l">
              <a:lnSpc>
                <a:spcPts val="1912"/>
              </a:lnSpc>
            </a:pPr>
            <a:r>
              <a:rPr sz="1275" b="1" i="0" u="none">
                <a:solidFill>
                  <a:srgbClr val="CBD5E1"/>
                </a:solidFill>
                <a:latin typeface="Lato"/>
              </a:rPr>
              <a:t>ProductID:</a:t>
            </a:r>
            <a:r>
              <a:rPr sz="1275" b="0" i="0" u="none">
                <a:solidFill>
                  <a:srgbClr val="CBD5E1"/>
                </a:solidFill>
                <a:latin typeface="Lato"/>
              </a:rPr>
              <a:t> Unique ID </a:t>
            </a:r>
            <a:r>
              <a:rPr sz="1275" b="0" i="0" u="none">
                <a:solidFill>
                  <a:srgbClr val="F59E0B"/>
                </a:solidFill>
                <a:latin typeface="Lato"/>
              </a:rPr>
              <a:t>(PK)</a:t>
            </a:r>
          </a:p>
        </p:txBody>
      </p:sp>
      <p:sp>
        <p:nvSpPr>
          <p:cNvPr id="19" name="TextBox 18"/>
          <p:cNvSpPr txBox="1"/>
          <p:nvPr/>
        </p:nvSpPr>
        <p:spPr>
          <a:xfrm>
            <a:off x="4844950" y="3483768"/>
            <a:ext cx="2806749" cy="242887"/>
          </a:xfrm>
          <a:prstGeom prst="rect">
            <a:avLst/>
          </a:prstGeom>
          <a:noFill/>
        </p:spPr>
        <p:txBody>
          <a:bodyPr wrap="square" lIns="0" tIns="0" rIns="0" bIns="0" anchor="t">
            <a:spAutoFit/>
          </a:bodyPr>
          <a:lstStyle/>
          <a:p>
            <a:pPr algn="l">
              <a:lnSpc>
                <a:spcPts val="1912"/>
              </a:lnSpc>
            </a:pPr>
            <a:r>
              <a:rPr sz="1275" b="1" i="0" u="none">
                <a:solidFill>
                  <a:srgbClr val="CBD5E1"/>
                </a:solidFill>
                <a:latin typeface="Lato"/>
              </a:rPr>
              <a:t>ProductName / Brand:</a:t>
            </a:r>
            <a:r>
              <a:rPr sz="1275" b="0" i="0" u="none">
                <a:solidFill>
                  <a:srgbClr val="CBD5E1"/>
                </a:solidFill>
                <a:latin typeface="Lato"/>
              </a:rPr>
              <a:t> Catalog</a:t>
            </a:r>
          </a:p>
        </p:txBody>
      </p:sp>
      <p:sp>
        <p:nvSpPr>
          <p:cNvPr id="20" name="TextBox 19"/>
          <p:cNvSpPr txBox="1"/>
          <p:nvPr/>
        </p:nvSpPr>
        <p:spPr>
          <a:xfrm>
            <a:off x="4844950" y="3860006"/>
            <a:ext cx="2806749" cy="242887"/>
          </a:xfrm>
          <a:prstGeom prst="rect">
            <a:avLst/>
          </a:prstGeom>
          <a:noFill/>
        </p:spPr>
        <p:txBody>
          <a:bodyPr wrap="square" lIns="0" tIns="0" rIns="0" bIns="0" anchor="t">
            <a:spAutoFit/>
          </a:bodyPr>
          <a:lstStyle/>
          <a:p>
            <a:pPr algn="l">
              <a:lnSpc>
                <a:spcPts val="1912"/>
              </a:lnSpc>
            </a:pPr>
            <a:r>
              <a:rPr sz="1275" b="1" i="0" u="none">
                <a:solidFill>
                  <a:srgbClr val="CBD5E1"/>
                </a:solidFill>
                <a:latin typeface="Lato"/>
              </a:rPr>
              <a:t>Category:</a:t>
            </a:r>
            <a:r>
              <a:rPr sz="1275" b="0" i="0" u="none">
                <a:solidFill>
                  <a:srgbClr val="CBD5E1"/>
                </a:solidFill>
                <a:latin typeface="Lato"/>
              </a:rPr>
              <a:t> Smartphones, Laptops...</a:t>
            </a:r>
          </a:p>
        </p:txBody>
      </p:sp>
      <p:sp>
        <p:nvSpPr>
          <p:cNvPr id="21" name="TextBox 20"/>
          <p:cNvSpPr txBox="1"/>
          <p:nvPr/>
        </p:nvSpPr>
        <p:spPr>
          <a:xfrm>
            <a:off x="4844950" y="4236243"/>
            <a:ext cx="2806749" cy="242887"/>
          </a:xfrm>
          <a:prstGeom prst="rect">
            <a:avLst/>
          </a:prstGeom>
          <a:noFill/>
        </p:spPr>
        <p:txBody>
          <a:bodyPr wrap="square" lIns="0" tIns="0" rIns="0" bIns="0" anchor="t">
            <a:spAutoFit/>
          </a:bodyPr>
          <a:lstStyle/>
          <a:p>
            <a:pPr algn="l">
              <a:lnSpc>
                <a:spcPts val="1912"/>
              </a:lnSpc>
            </a:pPr>
            <a:r>
              <a:rPr sz="1275" b="1" i="0" u="none">
                <a:solidFill>
                  <a:srgbClr val="CBD5E1"/>
                </a:solidFill>
                <a:latin typeface="Lato"/>
              </a:rPr>
              <a:t>UnitCost / UnitPrice:</a:t>
            </a:r>
            <a:r>
              <a:rPr sz="1275" b="0" i="0" u="none">
                <a:solidFill>
                  <a:srgbClr val="CBD5E1"/>
                </a:solidFill>
                <a:latin typeface="Lato"/>
              </a:rPr>
              <a:t> Pricing</a:t>
            </a:r>
          </a:p>
        </p:txBody>
      </p:sp>
      <p:sp>
        <p:nvSpPr>
          <p:cNvPr id="22" name="TextBox 21"/>
          <p:cNvSpPr txBox="1"/>
          <p:nvPr/>
        </p:nvSpPr>
        <p:spPr>
          <a:xfrm>
            <a:off x="4844950" y="4612481"/>
            <a:ext cx="2806749" cy="242887"/>
          </a:xfrm>
          <a:prstGeom prst="rect">
            <a:avLst/>
          </a:prstGeom>
          <a:noFill/>
        </p:spPr>
        <p:txBody>
          <a:bodyPr wrap="square" lIns="0" tIns="0" rIns="0" bIns="0" anchor="t">
            <a:spAutoFit/>
          </a:bodyPr>
          <a:lstStyle/>
          <a:p>
            <a:pPr algn="l">
              <a:lnSpc>
                <a:spcPts val="1912"/>
              </a:lnSpc>
            </a:pPr>
            <a:r>
              <a:rPr sz="1275" b="1" i="0" u="none">
                <a:solidFill>
                  <a:srgbClr val="CBD5E1"/>
                </a:solidFill>
                <a:latin typeface="Lato"/>
              </a:rPr>
              <a:t>StockQuantity / Rating:</a:t>
            </a:r>
            <a:r>
              <a:rPr sz="1275" b="0" i="0" u="none">
                <a:solidFill>
                  <a:srgbClr val="CBD5E1"/>
                </a:solidFill>
                <a:latin typeface="Lato"/>
              </a:rPr>
              <a:t> Inventory</a:t>
            </a:r>
          </a:p>
        </p:txBody>
      </p:sp>
      <p:sp>
        <p:nvSpPr>
          <p:cNvPr id="23" name="TextBox 22"/>
          <p:cNvSpPr txBox="1"/>
          <p:nvPr/>
        </p:nvSpPr>
        <p:spPr>
          <a:xfrm>
            <a:off x="8661350" y="3107531"/>
            <a:ext cx="2806600" cy="242887"/>
          </a:xfrm>
          <a:prstGeom prst="rect">
            <a:avLst/>
          </a:prstGeom>
          <a:noFill/>
        </p:spPr>
        <p:txBody>
          <a:bodyPr wrap="square" lIns="0" tIns="0" rIns="0" bIns="0" anchor="t">
            <a:spAutoFit/>
          </a:bodyPr>
          <a:lstStyle/>
          <a:p>
            <a:pPr algn="l">
              <a:lnSpc>
                <a:spcPts val="1912"/>
              </a:lnSpc>
            </a:pPr>
            <a:r>
              <a:rPr sz="1275" b="1" i="0" u="none">
                <a:solidFill>
                  <a:srgbClr val="CBD5E1"/>
                </a:solidFill>
                <a:latin typeface="Lato"/>
              </a:rPr>
              <a:t>StoreID:</a:t>
            </a:r>
            <a:r>
              <a:rPr sz="1275" b="0" i="0" u="none">
                <a:solidFill>
                  <a:srgbClr val="CBD5E1"/>
                </a:solidFill>
                <a:latin typeface="Lato"/>
              </a:rPr>
              <a:t> Unique ID </a:t>
            </a:r>
            <a:r>
              <a:rPr sz="1275" b="0" i="0" u="none">
                <a:solidFill>
                  <a:srgbClr val="F59E0B"/>
                </a:solidFill>
                <a:latin typeface="Lato"/>
              </a:rPr>
              <a:t>(PK)</a:t>
            </a:r>
          </a:p>
        </p:txBody>
      </p:sp>
      <p:sp>
        <p:nvSpPr>
          <p:cNvPr id="24" name="TextBox 23"/>
          <p:cNvSpPr txBox="1"/>
          <p:nvPr/>
        </p:nvSpPr>
        <p:spPr>
          <a:xfrm>
            <a:off x="8661350" y="3483768"/>
            <a:ext cx="2806600" cy="242887"/>
          </a:xfrm>
          <a:prstGeom prst="rect">
            <a:avLst/>
          </a:prstGeom>
          <a:noFill/>
        </p:spPr>
        <p:txBody>
          <a:bodyPr wrap="square" lIns="0" tIns="0" rIns="0" bIns="0" anchor="t">
            <a:spAutoFit/>
          </a:bodyPr>
          <a:lstStyle/>
          <a:p>
            <a:pPr algn="l">
              <a:lnSpc>
                <a:spcPts val="1912"/>
              </a:lnSpc>
            </a:pPr>
            <a:r>
              <a:rPr sz="1275" b="1" i="0" u="none">
                <a:solidFill>
                  <a:srgbClr val="CBD5E1"/>
                </a:solidFill>
                <a:latin typeface="Lato"/>
              </a:rPr>
              <a:t>StoreName:</a:t>
            </a:r>
            <a:r>
              <a:rPr sz="1275" b="0" i="0" u="none">
                <a:solidFill>
                  <a:srgbClr val="CBD5E1"/>
                </a:solidFill>
                <a:latin typeface="Lato"/>
              </a:rPr>
              <a:t> Branch name</a:t>
            </a:r>
          </a:p>
        </p:txBody>
      </p:sp>
      <p:sp>
        <p:nvSpPr>
          <p:cNvPr id="25" name="TextBox 24"/>
          <p:cNvSpPr txBox="1"/>
          <p:nvPr/>
        </p:nvSpPr>
        <p:spPr>
          <a:xfrm>
            <a:off x="8661350" y="3860006"/>
            <a:ext cx="2806600" cy="242887"/>
          </a:xfrm>
          <a:prstGeom prst="rect">
            <a:avLst/>
          </a:prstGeom>
          <a:noFill/>
        </p:spPr>
        <p:txBody>
          <a:bodyPr wrap="square" lIns="0" tIns="0" rIns="0" bIns="0" anchor="t">
            <a:spAutoFit/>
          </a:bodyPr>
          <a:lstStyle/>
          <a:p>
            <a:pPr algn="l">
              <a:lnSpc>
                <a:spcPts val="1912"/>
              </a:lnSpc>
            </a:pPr>
            <a:r>
              <a:rPr sz="1275" b="1" i="0" u="none">
                <a:solidFill>
                  <a:srgbClr val="CBD5E1"/>
                </a:solidFill>
                <a:latin typeface="Lato"/>
              </a:rPr>
              <a:t>City:</a:t>
            </a:r>
            <a:r>
              <a:rPr sz="1275" b="0" i="0" u="none">
                <a:solidFill>
                  <a:srgbClr val="CBD5E1"/>
                </a:solidFill>
                <a:latin typeface="Lato"/>
              </a:rPr>
              <a:t> Branch location</a:t>
            </a:r>
          </a:p>
        </p:txBody>
      </p:sp>
      <p:sp>
        <p:nvSpPr>
          <p:cNvPr id="26" name="TextBox 25"/>
          <p:cNvSpPr txBox="1"/>
          <p:nvPr/>
        </p:nvSpPr>
        <p:spPr>
          <a:xfrm>
            <a:off x="8661350" y="4236243"/>
            <a:ext cx="2806600" cy="242887"/>
          </a:xfrm>
          <a:prstGeom prst="rect">
            <a:avLst/>
          </a:prstGeom>
          <a:noFill/>
        </p:spPr>
        <p:txBody>
          <a:bodyPr wrap="square" lIns="0" tIns="0" rIns="0" bIns="0" anchor="t">
            <a:spAutoFit/>
          </a:bodyPr>
          <a:lstStyle/>
          <a:p>
            <a:pPr algn="l">
              <a:lnSpc>
                <a:spcPts val="1912"/>
              </a:lnSpc>
            </a:pPr>
            <a:r>
              <a:rPr sz="1275" b="1" i="0" u="none">
                <a:solidFill>
                  <a:srgbClr val="CBD5E1"/>
                </a:solidFill>
                <a:latin typeface="Lato"/>
              </a:rPr>
              <a:t>NumberOfEmployees:</a:t>
            </a:r>
            <a:r>
              <a:rPr sz="1275" b="0" i="0" u="none">
                <a:solidFill>
                  <a:srgbClr val="CBD5E1"/>
                </a:solidFill>
                <a:latin typeface="Lato"/>
              </a:rPr>
              <a:t> Headcount</a:t>
            </a:r>
          </a:p>
        </p:txBody>
      </p:sp>
      <p:sp>
        <p:nvSpPr>
          <p:cNvPr id="27" name="TextBox 26"/>
          <p:cNvSpPr txBox="1"/>
          <p:nvPr/>
        </p:nvSpPr>
        <p:spPr>
          <a:xfrm>
            <a:off x="8661350" y="4612481"/>
            <a:ext cx="2806600" cy="242887"/>
          </a:xfrm>
          <a:prstGeom prst="rect">
            <a:avLst/>
          </a:prstGeom>
          <a:noFill/>
        </p:spPr>
        <p:txBody>
          <a:bodyPr wrap="square" lIns="0" tIns="0" rIns="0" bIns="0" anchor="t">
            <a:spAutoFit/>
          </a:bodyPr>
          <a:lstStyle/>
          <a:p>
            <a:pPr algn="l">
              <a:lnSpc>
                <a:spcPts val="1912"/>
              </a:lnSpc>
            </a:pPr>
            <a:r>
              <a:rPr sz="1275" b="1" i="0" u="none">
                <a:solidFill>
                  <a:srgbClr val="CBD5E1"/>
                </a:solidFill>
                <a:latin typeface="Lato"/>
              </a:rPr>
              <a:t>Opening Date:</a:t>
            </a:r>
            <a:r>
              <a:rPr sz="1275" b="0" i="0" u="none">
                <a:solidFill>
                  <a:srgbClr val="CBD5E1"/>
                </a:solidFill>
                <a:latin typeface="Lato"/>
              </a:rPr>
              <a:t> Launch date</a:t>
            </a:r>
          </a:p>
        </p:txBody>
      </p:sp>
      <p:sp>
        <p:nvSpPr>
          <p:cNvPr id="28" name="TextBox 27"/>
          <p:cNvSpPr txBox="1"/>
          <p:nvPr/>
        </p:nvSpPr>
        <p:spPr>
          <a:xfrm>
            <a:off x="485775" y="485775"/>
            <a:ext cx="11706225" cy="523875"/>
          </a:xfrm>
          <a:prstGeom prst="rect">
            <a:avLst/>
          </a:prstGeom>
          <a:noFill/>
        </p:spPr>
        <p:txBody>
          <a:bodyPr wrap="square" lIns="0" tIns="0" rIns="0" bIns="0" anchor="ctr">
            <a:spAutoFit/>
          </a:bodyPr>
          <a:lstStyle/>
          <a:p>
            <a:pPr algn="l"/>
            <a:r>
              <a:rPr sz="2700" b="1" i="0" u="none">
                <a:solidFill>
                  <a:srgbClr val="F8FAFC"/>
                </a:solidFill>
                <a:latin typeface="Poppins"/>
              </a:rPr>
              <a:t>Data Dictionary (Part 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85775" y="2440781"/>
            <a:ext cx="3587650" cy="2786062"/>
          </a:xfrm>
          <a:prstGeom prst="rect">
            <a:avLst/>
          </a:prstGeom>
        </p:spPr>
      </p:pic>
      <p:pic>
        <p:nvPicPr>
          <p:cNvPr id="4" name="Picture 3" descr="image.png"/>
          <p:cNvPicPr>
            <a:picLocks noChangeAspect="1"/>
          </p:cNvPicPr>
          <p:nvPr/>
        </p:nvPicPr>
        <p:blipFill>
          <a:blip r:embed="rId4"/>
          <a:stretch>
            <a:fillRect/>
          </a:stretch>
        </p:blipFill>
        <p:spPr>
          <a:xfrm>
            <a:off x="4302025" y="2440781"/>
            <a:ext cx="3587799" cy="2786062"/>
          </a:xfrm>
          <a:prstGeom prst="rect">
            <a:avLst/>
          </a:prstGeom>
        </p:spPr>
      </p:pic>
      <p:pic>
        <p:nvPicPr>
          <p:cNvPr id="5" name="Picture 4" descr="image.png"/>
          <p:cNvPicPr>
            <a:picLocks noChangeAspect="1"/>
          </p:cNvPicPr>
          <p:nvPr/>
        </p:nvPicPr>
        <p:blipFill>
          <a:blip r:embed="rId5"/>
          <a:stretch>
            <a:fillRect/>
          </a:stretch>
        </p:blipFill>
        <p:spPr>
          <a:xfrm>
            <a:off x="8118425" y="2440781"/>
            <a:ext cx="3587650" cy="2786062"/>
          </a:xfrm>
          <a:prstGeom prst="rect">
            <a:avLst/>
          </a:prstGeom>
        </p:spPr>
      </p:pic>
      <p:pic>
        <p:nvPicPr>
          <p:cNvPr id="6" name="Picture 5" descr="image.png"/>
          <p:cNvPicPr>
            <a:picLocks noChangeAspect="1"/>
          </p:cNvPicPr>
          <p:nvPr/>
        </p:nvPicPr>
        <p:blipFill>
          <a:blip r:embed="rId6"/>
          <a:stretch>
            <a:fillRect/>
          </a:stretch>
        </p:blipFill>
        <p:spPr>
          <a:xfrm>
            <a:off x="485775" y="6391275"/>
            <a:ext cx="11220450" cy="266700"/>
          </a:xfrm>
          <a:prstGeom prst="rect">
            <a:avLst/>
          </a:prstGeom>
        </p:spPr>
      </p:pic>
      <p:pic>
        <p:nvPicPr>
          <p:cNvPr id="7" name="Picture 6" descr="image.png"/>
          <p:cNvPicPr>
            <a:picLocks noChangeAspect="1"/>
          </p:cNvPicPr>
          <p:nvPr/>
        </p:nvPicPr>
        <p:blipFill>
          <a:blip r:embed="rId7"/>
          <a:stretch>
            <a:fillRect/>
          </a:stretch>
        </p:blipFill>
        <p:spPr>
          <a:xfrm>
            <a:off x="10753725" y="600075"/>
            <a:ext cx="952500" cy="295275"/>
          </a:xfrm>
          <a:prstGeom prst="rect">
            <a:avLst/>
          </a:prstGeom>
        </p:spPr>
      </p:pic>
      <p:sp>
        <p:nvSpPr>
          <p:cNvPr id="8" name="TextBox 7"/>
          <p:cNvSpPr txBox="1"/>
          <p:nvPr/>
        </p:nvSpPr>
        <p:spPr>
          <a:xfrm>
            <a:off x="485775" y="6515100"/>
            <a:ext cx="1857375" cy="142875"/>
          </a:xfrm>
          <a:prstGeom prst="rect">
            <a:avLst/>
          </a:prstGeom>
          <a:noFill/>
        </p:spPr>
        <p:txBody>
          <a:bodyPr wrap="square" lIns="0" tIns="0" rIns="0" bIns="0" anchor="t">
            <a:spAutoFit/>
          </a:bodyPr>
          <a:lstStyle/>
          <a:p>
            <a:pPr algn="l"/>
            <a:r>
              <a:rPr sz="900" b="0" i="0" u="none">
                <a:solidFill>
                  <a:srgbClr val="64748B"/>
                </a:solidFill>
                <a:latin typeface="Lato"/>
              </a:rPr>
              <a:t>Smart Zone — Electronics Retail Store</a:t>
            </a:r>
          </a:p>
        </p:txBody>
      </p:sp>
      <p:sp>
        <p:nvSpPr>
          <p:cNvPr id="9" name="TextBox 8"/>
          <p:cNvSpPr txBox="1"/>
          <p:nvPr/>
        </p:nvSpPr>
        <p:spPr>
          <a:xfrm>
            <a:off x="10344150" y="6515100"/>
            <a:ext cx="1362075" cy="142875"/>
          </a:xfrm>
          <a:prstGeom prst="rect">
            <a:avLst/>
          </a:prstGeom>
          <a:noFill/>
        </p:spPr>
        <p:txBody>
          <a:bodyPr wrap="square" lIns="0" tIns="0" rIns="0" bIns="0" anchor="t">
            <a:spAutoFit/>
          </a:bodyPr>
          <a:lstStyle/>
          <a:p>
            <a:pPr algn="l"/>
            <a:r>
              <a:rPr sz="900" b="0" i="0" u="none">
                <a:solidFill>
                  <a:srgbClr val="64748B"/>
                </a:solidFill>
                <a:latin typeface="Lato"/>
              </a:rPr>
              <a:t>Data Dictionary Definitions</a:t>
            </a:r>
          </a:p>
        </p:txBody>
      </p:sp>
      <p:sp>
        <p:nvSpPr>
          <p:cNvPr id="10" name="TextBox 9"/>
          <p:cNvSpPr txBox="1"/>
          <p:nvPr/>
        </p:nvSpPr>
        <p:spPr>
          <a:xfrm>
            <a:off x="723900" y="2678906"/>
            <a:ext cx="3266970" cy="314325"/>
          </a:xfrm>
          <a:prstGeom prst="rect">
            <a:avLst/>
          </a:prstGeom>
          <a:noFill/>
        </p:spPr>
        <p:txBody>
          <a:bodyPr wrap="square" lIns="0" tIns="0" rIns="0" bIns="0" anchor="t">
            <a:spAutoFit/>
          </a:bodyPr>
          <a:lstStyle/>
          <a:p>
            <a:pPr algn="l"/>
            <a:r>
              <a:rPr sz="1650" b="0" i="0" u="none">
                <a:solidFill>
                  <a:srgbClr val="38BDF8"/>
                </a:solidFill>
                <a:latin typeface="Poppins SemiBold"/>
              </a:rPr>
              <a:t>4. Employees</a:t>
            </a:r>
          </a:p>
        </p:txBody>
      </p:sp>
      <p:sp>
        <p:nvSpPr>
          <p:cNvPr id="11" name="TextBox 10"/>
          <p:cNvSpPr txBox="1"/>
          <p:nvPr/>
        </p:nvSpPr>
        <p:spPr>
          <a:xfrm>
            <a:off x="4540150" y="2678906"/>
            <a:ext cx="3267127" cy="314325"/>
          </a:xfrm>
          <a:prstGeom prst="rect">
            <a:avLst/>
          </a:prstGeom>
          <a:noFill/>
        </p:spPr>
        <p:txBody>
          <a:bodyPr wrap="square" lIns="0" tIns="0" rIns="0" bIns="0" anchor="t">
            <a:spAutoFit/>
          </a:bodyPr>
          <a:lstStyle/>
          <a:p>
            <a:pPr algn="l"/>
            <a:r>
              <a:rPr sz="1650" b="0" i="0" u="none">
                <a:solidFill>
                  <a:srgbClr val="38BDF8"/>
                </a:solidFill>
                <a:latin typeface="Poppins SemiBold"/>
              </a:rPr>
              <a:t>5. Sales</a:t>
            </a:r>
          </a:p>
        </p:txBody>
      </p:sp>
      <p:sp>
        <p:nvSpPr>
          <p:cNvPr id="12" name="TextBox 11"/>
          <p:cNvSpPr txBox="1"/>
          <p:nvPr/>
        </p:nvSpPr>
        <p:spPr>
          <a:xfrm>
            <a:off x="8356550" y="2678906"/>
            <a:ext cx="3266970" cy="314325"/>
          </a:xfrm>
          <a:prstGeom prst="rect">
            <a:avLst/>
          </a:prstGeom>
          <a:noFill/>
        </p:spPr>
        <p:txBody>
          <a:bodyPr wrap="square" lIns="0" tIns="0" rIns="0" bIns="0" anchor="t">
            <a:spAutoFit/>
          </a:bodyPr>
          <a:lstStyle/>
          <a:p>
            <a:pPr algn="l"/>
            <a:r>
              <a:rPr sz="1650" b="0" i="0" u="none">
                <a:solidFill>
                  <a:srgbClr val="38BDF8"/>
                </a:solidFill>
                <a:latin typeface="Poppins SemiBold"/>
              </a:rPr>
              <a:t>6. SaleDetails</a:t>
            </a:r>
          </a:p>
        </p:txBody>
      </p:sp>
      <p:sp>
        <p:nvSpPr>
          <p:cNvPr id="13" name="TextBox 12"/>
          <p:cNvSpPr txBox="1"/>
          <p:nvPr/>
        </p:nvSpPr>
        <p:spPr>
          <a:xfrm>
            <a:off x="1028700" y="3107531"/>
            <a:ext cx="2806600" cy="242887"/>
          </a:xfrm>
          <a:prstGeom prst="rect">
            <a:avLst/>
          </a:prstGeom>
          <a:noFill/>
        </p:spPr>
        <p:txBody>
          <a:bodyPr wrap="square" lIns="0" tIns="0" rIns="0" bIns="0" anchor="t">
            <a:spAutoFit/>
          </a:bodyPr>
          <a:lstStyle/>
          <a:p>
            <a:pPr algn="l">
              <a:lnSpc>
                <a:spcPts val="1912"/>
              </a:lnSpc>
            </a:pPr>
            <a:r>
              <a:rPr sz="1275" b="1" i="0" u="none">
                <a:solidFill>
                  <a:srgbClr val="CBD5E1"/>
                </a:solidFill>
                <a:latin typeface="Lato"/>
              </a:rPr>
              <a:t>EmployeeID:</a:t>
            </a:r>
            <a:r>
              <a:rPr sz="1275" b="0" i="0" u="none">
                <a:solidFill>
                  <a:srgbClr val="CBD5E1"/>
                </a:solidFill>
                <a:latin typeface="Lato"/>
              </a:rPr>
              <a:t> Unique ID </a:t>
            </a:r>
            <a:r>
              <a:rPr sz="1275" b="0" i="0" u="none">
                <a:solidFill>
                  <a:srgbClr val="F59E0B"/>
                </a:solidFill>
                <a:latin typeface="Lato"/>
              </a:rPr>
              <a:t>(PK)</a:t>
            </a:r>
          </a:p>
        </p:txBody>
      </p:sp>
      <p:sp>
        <p:nvSpPr>
          <p:cNvPr id="14" name="TextBox 13"/>
          <p:cNvSpPr txBox="1"/>
          <p:nvPr/>
        </p:nvSpPr>
        <p:spPr>
          <a:xfrm>
            <a:off x="1028700" y="3483768"/>
            <a:ext cx="2806600" cy="242887"/>
          </a:xfrm>
          <a:prstGeom prst="rect">
            <a:avLst/>
          </a:prstGeom>
          <a:noFill/>
        </p:spPr>
        <p:txBody>
          <a:bodyPr wrap="square" lIns="0" tIns="0" rIns="0" bIns="0" anchor="t">
            <a:spAutoFit/>
          </a:bodyPr>
          <a:lstStyle/>
          <a:p>
            <a:pPr algn="l">
              <a:lnSpc>
                <a:spcPts val="1912"/>
              </a:lnSpc>
            </a:pPr>
            <a:r>
              <a:rPr sz="1275" b="1" i="0" u="none">
                <a:solidFill>
                  <a:srgbClr val="CBD5E1"/>
                </a:solidFill>
                <a:latin typeface="Lato"/>
              </a:rPr>
              <a:t>Employee Name:</a:t>
            </a:r>
            <a:r>
              <a:rPr sz="1275" b="0" i="0" u="none">
                <a:solidFill>
                  <a:srgbClr val="CBD5E1"/>
                </a:solidFill>
                <a:latin typeface="Lato"/>
              </a:rPr>
              <a:t> Staff name</a:t>
            </a:r>
          </a:p>
        </p:txBody>
      </p:sp>
      <p:sp>
        <p:nvSpPr>
          <p:cNvPr id="15" name="TextBox 14"/>
          <p:cNvSpPr txBox="1"/>
          <p:nvPr/>
        </p:nvSpPr>
        <p:spPr>
          <a:xfrm>
            <a:off x="1028700" y="3860006"/>
            <a:ext cx="2806600" cy="242887"/>
          </a:xfrm>
          <a:prstGeom prst="rect">
            <a:avLst/>
          </a:prstGeom>
          <a:noFill/>
        </p:spPr>
        <p:txBody>
          <a:bodyPr wrap="square" lIns="0" tIns="0" rIns="0" bIns="0" anchor="t">
            <a:spAutoFit/>
          </a:bodyPr>
          <a:lstStyle/>
          <a:p>
            <a:pPr algn="l">
              <a:lnSpc>
                <a:spcPts val="1912"/>
              </a:lnSpc>
            </a:pPr>
            <a:r>
              <a:rPr sz="1275" b="1" i="0" u="none">
                <a:solidFill>
                  <a:srgbClr val="CBD5E1"/>
                </a:solidFill>
                <a:latin typeface="Lato"/>
              </a:rPr>
              <a:t>Gender / HireDate:</a:t>
            </a:r>
            <a:r>
              <a:rPr sz="1275" b="0" i="0" u="none">
                <a:solidFill>
                  <a:srgbClr val="CBD5E1"/>
                </a:solidFill>
                <a:latin typeface="Lato"/>
              </a:rPr>
              <a:t> Meta</a:t>
            </a:r>
          </a:p>
        </p:txBody>
      </p:sp>
      <p:sp>
        <p:nvSpPr>
          <p:cNvPr id="16" name="TextBox 15"/>
          <p:cNvSpPr txBox="1"/>
          <p:nvPr/>
        </p:nvSpPr>
        <p:spPr>
          <a:xfrm>
            <a:off x="1028700" y="4236243"/>
            <a:ext cx="2806600" cy="242887"/>
          </a:xfrm>
          <a:prstGeom prst="rect">
            <a:avLst/>
          </a:prstGeom>
          <a:noFill/>
        </p:spPr>
        <p:txBody>
          <a:bodyPr wrap="square" lIns="0" tIns="0" rIns="0" bIns="0" anchor="t">
            <a:spAutoFit/>
          </a:bodyPr>
          <a:lstStyle/>
          <a:p>
            <a:pPr algn="l">
              <a:lnSpc>
                <a:spcPts val="1912"/>
              </a:lnSpc>
            </a:pPr>
            <a:r>
              <a:rPr sz="1275" b="1" i="0" u="none">
                <a:solidFill>
                  <a:srgbClr val="CBD5E1"/>
                </a:solidFill>
                <a:latin typeface="Lato"/>
              </a:rPr>
              <a:t>JobTitle:</a:t>
            </a:r>
            <a:r>
              <a:rPr sz="1275" b="0" i="0" u="none">
                <a:solidFill>
                  <a:srgbClr val="CBD5E1"/>
                </a:solidFill>
                <a:latin typeface="Lato"/>
              </a:rPr>
              <a:t> Role position</a:t>
            </a:r>
          </a:p>
        </p:txBody>
      </p:sp>
      <p:sp>
        <p:nvSpPr>
          <p:cNvPr id="17" name="TextBox 16"/>
          <p:cNvSpPr txBox="1"/>
          <p:nvPr/>
        </p:nvSpPr>
        <p:spPr>
          <a:xfrm>
            <a:off x="1028700" y="4612481"/>
            <a:ext cx="2806600" cy="242887"/>
          </a:xfrm>
          <a:prstGeom prst="rect">
            <a:avLst/>
          </a:prstGeom>
          <a:noFill/>
        </p:spPr>
        <p:txBody>
          <a:bodyPr wrap="square" lIns="0" tIns="0" rIns="0" bIns="0" anchor="t">
            <a:spAutoFit/>
          </a:bodyPr>
          <a:lstStyle/>
          <a:p>
            <a:pPr algn="l">
              <a:lnSpc>
                <a:spcPts val="1912"/>
              </a:lnSpc>
            </a:pPr>
            <a:r>
              <a:rPr sz="1275" b="1" i="0" u="none">
                <a:solidFill>
                  <a:srgbClr val="CBD5E1"/>
                </a:solidFill>
                <a:latin typeface="Lato"/>
              </a:rPr>
              <a:t>StoreID:</a:t>
            </a:r>
            <a:r>
              <a:rPr sz="1275" b="0" i="0" u="none">
                <a:solidFill>
                  <a:srgbClr val="CBD5E1"/>
                </a:solidFill>
                <a:latin typeface="Lato"/>
              </a:rPr>
              <a:t> Branch </a:t>
            </a:r>
            <a:r>
              <a:rPr sz="1275" b="0" i="0" u="none">
                <a:solidFill>
                  <a:srgbClr val="EC4899"/>
                </a:solidFill>
                <a:latin typeface="Lato"/>
              </a:rPr>
              <a:t>(FK)</a:t>
            </a:r>
          </a:p>
        </p:txBody>
      </p:sp>
      <p:sp>
        <p:nvSpPr>
          <p:cNvPr id="18" name="TextBox 17"/>
          <p:cNvSpPr txBox="1"/>
          <p:nvPr/>
        </p:nvSpPr>
        <p:spPr>
          <a:xfrm>
            <a:off x="4844950" y="3107531"/>
            <a:ext cx="2806749" cy="242887"/>
          </a:xfrm>
          <a:prstGeom prst="rect">
            <a:avLst/>
          </a:prstGeom>
          <a:noFill/>
        </p:spPr>
        <p:txBody>
          <a:bodyPr wrap="square" lIns="0" tIns="0" rIns="0" bIns="0" anchor="t">
            <a:spAutoFit/>
          </a:bodyPr>
          <a:lstStyle/>
          <a:p>
            <a:pPr algn="l">
              <a:lnSpc>
                <a:spcPts val="1912"/>
              </a:lnSpc>
            </a:pPr>
            <a:r>
              <a:rPr sz="1275" b="1" i="0" u="none">
                <a:solidFill>
                  <a:srgbClr val="CBD5E1"/>
                </a:solidFill>
                <a:latin typeface="Lato"/>
              </a:rPr>
              <a:t>SaleID:</a:t>
            </a:r>
            <a:r>
              <a:rPr sz="1275" b="0" i="0" u="none">
                <a:solidFill>
                  <a:srgbClr val="CBD5E1"/>
                </a:solidFill>
                <a:latin typeface="Lato"/>
              </a:rPr>
              <a:t> Transaction ID </a:t>
            </a:r>
            <a:r>
              <a:rPr sz="1275" b="0" i="0" u="none">
                <a:solidFill>
                  <a:srgbClr val="F59E0B"/>
                </a:solidFill>
                <a:latin typeface="Lato"/>
              </a:rPr>
              <a:t>(PK)</a:t>
            </a:r>
          </a:p>
        </p:txBody>
      </p:sp>
      <p:sp>
        <p:nvSpPr>
          <p:cNvPr id="19" name="TextBox 18"/>
          <p:cNvSpPr txBox="1"/>
          <p:nvPr/>
        </p:nvSpPr>
        <p:spPr>
          <a:xfrm>
            <a:off x="4844950" y="3483768"/>
            <a:ext cx="2806749" cy="242887"/>
          </a:xfrm>
          <a:prstGeom prst="rect">
            <a:avLst/>
          </a:prstGeom>
          <a:noFill/>
        </p:spPr>
        <p:txBody>
          <a:bodyPr wrap="square" lIns="0" tIns="0" rIns="0" bIns="0" anchor="t">
            <a:spAutoFit/>
          </a:bodyPr>
          <a:lstStyle/>
          <a:p>
            <a:pPr algn="l">
              <a:lnSpc>
                <a:spcPts val="1912"/>
              </a:lnSpc>
            </a:pPr>
            <a:r>
              <a:rPr sz="1275" b="1" i="0" u="none">
                <a:solidFill>
                  <a:srgbClr val="CBD5E1"/>
                </a:solidFill>
                <a:latin typeface="Lato"/>
              </a:rPr>
              <a:t>Sale Date / PaymentMethod:</a:t>
            </a:r>
            <a:r>
              <a:rPr sz="1275" b="0" i="0" u="none">
                <a:solidFill>
                  <a:srgbClr val="CBD5E1"/>
                </a:solidFill>
                <a:latin typeface="Lato"/>
              </a:rPr>
              <a:t> Details</a:t>
            </a:r>
          </a:p>
        </p:txBody>
      </p:sp>
      <p:sp>
        <p:nvSpPr>
          <p:cNvPr id="20" name="TextBox 19"/>
          <p:cNvSpPr txBox="1"/>
          <p:nvPr/>
        </p:nvSpPr>
        <p:spPr>
          <a:xfrm>
            <a:off x="4844950" y="3860006"/>
            <a:ext cx="2806749" cy="485775"/>
          </a:xfrm>
          <a:prstGeom prst="rect">
            <a:avLst/>
          </a:prstGeom>
          <a:noFill/>
        </p:spPr>
        <p:txBody>
          <a:bodyPr wrap="square" lIns="0" tIns="0" rIns="0" bIns="0" anchor="t">
            <a:spAutoFit/>
          </a:bodyPr>
          <a:lstStyle/>
          <a:p>
            <a:pPr algn="l">
              <a:lnSpc>
                <a:spcPts val="1912"/>
              </a:lnSpc>
            </a:pPr>
            <a:r>
              <a:rPr sz="1275" b="1" i="0" u="none">
                <a:solidFill>
                  <a:srgbClr val="CBD5E1"/>
                </a:solidFill>
                <a:latin typeface="Lato"/>
              </a:rPr>
              <a:t>CustomerID / StoreID / EmployeeID:</a:t>
            </a:r>
            <a:r>
              <a:rPr sz="1275" b="0" i="0" u="none">
                <a:solidFill>
                  <a:srgbClr val="CBD5E1"/>
                </a:solidFill>
                <a:latin typeface="Lato"/>
              </a:rPr>
              <a:t> Foreign Keys </a:t>
            </a:r>
            <a:r>
              <a:rPr sz="1275" b="0" i="0" u="none">
                <a:solidFill>
                  <a:srgbClr val="EC4899"/>
                </a:solidFill>
                <a:latin typeface="Lato"/>
              </a:rPr>
              <a:t>(FK)</a:t>
            </a:r>
          </a:p>
        </p:txBody>
      </p:sp>
      <p:sp>
        <p:nvSpPr>
          <p:cNvPr id="21" name="TextBox 20"/>
          <p:cNvSpPr txBox="1"/>
          <p:nvPr/>
        </p:nvSpPr>
        <p:spPr>
          <a:xfrm>
            <a:off x="4844950" y="4479131"/>
            <a:ext cx="2806749" cy="242887"/>
          </a:xfrm>
          <a:prstGeom prst="rect">
            <a:avLst/>
          </a:prstGeom>
          <a:noFill/>
        </p:spPr>
        <p:txBody>
          <a:bodyPr wrap="square" lIns="0" tIns="0" rIns="0" bIns="0" anchor="t">
            <a:spAutoFit/>
          </a:bodyPr>
          <a:lstStyle/>
          <a:p>
            <a:pPr algn="l">
              <a:lnSpc>
                <a:spcPts val="1912"/>
              </a:lnSpc>
            </a:pPr>
            <a:r>
              <a:rPr sz="1275" b="1" i="0" u="none">
                <a:solidFill>
                  <a:srgbClr val="CBD5E1"/>
                </a:solidFill>
                <a:latin typeface="Lato"/>
              </a:rPr>
              <a:t>OrderStatus:</a:t>
            </a:r>
            <a:r>
              <a:rPr sz="1275" b="0" i="0" u="none">
                <a:solidFill>
                  <a:srgbClr val="CBD5E1"/>
                </a:solidFill>
                <a:latin typeface="Lato"/>
              </a:rPr>
              <a:t> State</a:t>
            </a:r>
          </a:p>
        </p:txBody>
      </p:sp>
      <p:sp>
        <p:nvSpPr>
          <p:cNvPr id="22" name="TextBox 21"/>
          <p:cNvSpPr txBox="1"/>
          <p:nvPr/>
        </p:nvSpPr>
        <p:spPr>
          <a:xfrm>
            <a:off x="8661350" y="3107531"/>
            <a:ext cx="2806600" cy="485775"/>
          </a:xfrm>
          <a:prstGeom prst="rect">
            <a:avLst/>
          </a:prstGeom>
          <a:noFill/>
        </p:spPr>
        <p:txBody>
          <a:bodyPr wrap="square" lIns="0" tIns="0" rIns="0" bIns="0" anchor="t">
            <a:spAutoFit/>
          </a:bodyPr>
          <a:lstStyle/>
          <a:p>
            <a:pPr algn="l">
              <a:lnSpc>
                <a:spcPts val="1912"/>
              </a:lnSpc>
            </a:pPr>
            <a:r>
              <a:rPr sz="1275" b="1" i="0" u="none">
                <a:solidFill>
                  <a:srgbClr val="CBD5E1"/>
                </a:solidFill>
                <a:latin typeface="Lato"/>
              </a:rPr>
              <a:t>SaleID &amp; ProductID:</a:t>
            </a:r>
            <a:r>
              <a:rPr sz="1275" b="0" i="0" u="none">
                <a:solidFill>
                  <a:srgbClr val="CBD5E1"/>
                </a:solidFill>
                <a:latin typeface="Lato"/>
              </a:rPr>
              <a:t> Composite </a:t>
            </a:r>
            <a:r>
              <a:rPr sz="1275" b="0" i="0" u="none">
                <a:solidFill>
                  <a:srgbClr val="F59E0B"/>
                </a:solidFill>
                <a:latin typeface="Lato"/>
              </a:rPr>
              <a:t>(PK, FK)</a:t>
            </a:r>
          </a:p>
        </p:txBody>
      </p:sp>
      <p:sp>
        <p:nvSpPr>
          <p:cNvPr id="23" name="TextBox 22"/>
          <p:cNvSpPr txBox="1"/>
          <p:nvPr/>
        </p:nvSpPr>
        <p:spPr>
          <a:xfrm>
            <a:off x="8661350" y="3726656"/>
            <a:ext cx="2806600" cy="242887"/>
          </a:xfrm>
          <a:prstGeom prst="rect">
            <a:avLst/>
          </a:prstGeom>
          <a:noFill/>
        </p:spPr>
        <p:txBody>
          <a:bodyPr wrap="square" lIns="0" tIns="0" rIns="0" bIns="0" anchor="t">
            <a:spAutoFit/>
          </a:bodyPr>
          <a:lstStyle/>
          <a:p>
            <a:pPr algn="l">
              <a:lnSpc>
                <a:spcPts val="1912"/>
              </a:lnSpc>
            </a:pPr>
            <a:r>
              <a:rPr sz="1275" b="1" i="0" u="none">
                <a:solidFill>
                  <a:srgbClr val="CBD5E1"/>
                </a:solidFill>
                <a:latin typeface="Lato"/>
              </a:rPr>
              <a:t>Quantity:</a:t>
            </a:r>
            <a:r>
              <a:rPr sz="1275" b="0" i="0" u="none">
                <a:solidFill>
                  <a:srgbClr val="CBD5E1"/>
                </a:solidFill>
                <a:latin typeface="Lato"/>
              </a:rPr>
              <a:t> Units sold</a:t>
            </a:r>
          </a:p>
        </p:txBody>
      </p:sp>
      <p:sp>
        <p:nvSpPr>
          <p:cNvPr id="24" name="TextBox 23"/>
          <p:cNvSpPr txBox="1"/>
          <p:nvPr/>
        </p:nvSpPr>
        <p:spPr>
          <a:xfrm>
            <a:off x="8661350" y="4102893"/>
            <a:ext cx="2806600" cy="242887"/>
          </a:xfrm>
          <a:prstGeom prst="rect">
            <a:avLst/>
          </a:prstGeom>
          <a:noFill/>
        </p:spPr>
        <p:txBody>
          <a:bodyPr wrap="square" lIns="0" tIns="0" rIns="0" bIns="0" anchor="t">
            <a:spAutoFit/>
          </a:bodyPr>
          <a:lstStyle/>
          <a:p>
            <a:pPr algn="l">
              <a:lnSpc>
                <a:spcPts val="1912"/>
              </a:lnSpc>
            </a:pPr>
            <a:r>
              <a:rPr sz="1275" b="1" i="0" u="none">
                <a:solidFill>
                  <a:srgbClr val="CBD5E1"/>
                </a:solidFill>
                <a:latin typeface="Lato"/>
              </a:rPr>
              <a:t>UnitPrice / UnitCost:</a:t>
            </a:r>
            <a:r>
              <a:rPr sz="1275" b="0" i="0" u="none">
                <a:solidFill>
                  <a:srgbClr val="CBD5E1"/>
                </a:solidFill>
                <a:latin typeface="Lato"/>
              </a:rPr>
              <a:t> At transaction</a:t>
            </a:r>
          </a:p>
        </p:txBody>
      </p:sp>
      <p:sp>
        <p:nvSpPr>
          <p:cNvPr id="25" name="TextBox 24"/>
          <p:cNvSpPr txBox="1"/>
          <p:nvPr/>
        </p:nvSpPr>
        <p:spPr>
          <a:xfrm>
            <a:off x="8661350" y="4479131"/>
            <a:ext cx="2806600" cy="242887"/>
          </a:xfrm>
          <a:prstGeom prst="rect">
            <a:avLst/>
          </a:prstGeom>
          <a:noFill/>
        </p:spPr>
        <p:txBody>
          <a:bodyPr wrap="square" lIns="0" tIns="0" rIns="0" bIns="0" anchor="t">
            <a:spAutoFit/>
          </a:bodyPr>
          <a:lstStyle/>
          <a:p>
            <a:pPr algn="l">
              <a:lnSpc>
                <a:spcPts val="1912"/>
              </a:lnSpc>
            </a:pPr>
            <a:r>
              <a:rPr sz="1275" b="1" i="0" u="none">
                <a:solidFill>
                  <a:srgbClr val="CBD5E1"/>
                </a:solidFill>
                <a:latin typeface="Lato"/>
              </a:rPr>
              <a:t>Discount:</a:t>
            </a:r>
            <a:r>
              <a:rPr sz="1275" b="0" i="0" u="none">
                <a:solidFill>
                  <a:srgbClr val="CBD5E1"/>
                </a:solidFill>
                <a:latin typeface="Lato"/>
              </a:rPr>
              <a:t> Decimal (&lt;1)</a:t>
            </a:r>
          </a:p>
        </p:txBody>
      </p:sp>
      <p:sp>
        <p:nvSpPr>
          <p:cNvPr id="26" name="TextBox 25"/>
          <p:cNvSpPr txBox="1"/>
          <p:nvPr/>
        </p:nvSpPr>
        <p:spPr>
          <a:xfrm>
            <a:off x="485775" y="485775"/>
            <a:ext cx="11706225" cy="523875"/>
          </a:xfrm>
          <a:prstGeom prst="rect">
            <a:avLst/>
          </a:prstGeom>
          <a:noFill/>
        </p:spPr>
        <p:txBody>
          <a:bodyPr wrap="square" lIns="0" tIns="0" rIns="0" bIns="0" anchor="ctr">
            <a:spAutoFit/>
          </a:bodyPr>
          <a:lstStyle/>
          <a:p>
            <a:pPr algn="l"/>
            <a:r>
              <a:rPr sz="2700" b="1" i="0" u="none">
                <a:solidFill>
                  <a:srgbClr val="F8FAFC"/>
                </a:solidFill>
                <a:latin typeface="Poppins"/>
              </a:rPr>
              <a:t>Data Dictionary (Part 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85775" y="2403127"/>
            <a:ext cx="11220450" cy="2861220"/>
          </a:xfrm>
          <a:prstGeom prst="rect">
            <a:avLst/>
          </a:prstGeom>
        </p:spPr>
      </p:pic>
      <p:pic>
        <p:nvPicPr>
          <p:cNvPr id="4" name="Picture 3" descr="image.png"/>
          <p:cNvPicPr>
            <a:picLocks noChangeAspect="1"/>
          </p:cNvPicPr>
          <p:nvPr/>
        </p:nvPicPr>
        <p:blipFill>
          <a:blip r:embed="rId4"/>
          <a:stretch>
            <a:fillRect/>
          </a:stretch>
        </p:blipFill>
        <p:spPr>
          <a:xfrm>
            <a:off x="485775" y="6391275"/>
            <a:ext cx="11220450" cy="266700"/>
          </a:xfrm>
          <a:prstGeom prst="rect">
            <a:avLst/>
          </a:prstGeom>
        </p:spPr>
      </p:pic>
      <p:pic>
        <p:nvPicPr>
          <p:cNvPr id="5" name="Picture 4" descr="image.png"/>
          <p:cNvPicPr>
            <a:picLocks noChangeAspect="1"/>
          </p:cNvPicPr>
          <p:nvPr/>
        </p:nvPicPr>
        <p:blipFill>
          <a:blip r:embed="rId5"/>
          <a:stretch>
            <a:fillRect/>
          </a:stretch>
        </p:blipFill>
        <p:spPr>
          <a:xfrm>
            <a:off x="10682287" y="600075"/>
            <a:ext cx="1023937" cy="295275"/>
          </a:xfrm>
          <a:prstGeom prst="rect">
            <a:avLst/>
          </a:prstGeom>
        </p:spPr>
      </p:pic>
      <p:sp>
        <p:nvSpPr>
          <p:cNvPr id="6" name="TextBox 5"/>
          <p:cNvSpPr txBox="1"/>
          <p:nvPr/>
        </p:nvSpPr>
        <p:spPr>
          <a:xfrm>
            <a:off x="485775" y="6515100"/>
            <a:ext cx="1857375" cy="142875"/>
          </a:xfrm>
          <a:prstGeom prst="rect">
            <a:avLst/>
          </a:prstGeom>
          <a:noFill/>
        </p:spPr>
        <p:txBody>
          <a:bodyPr wrap="square" lIns="0" tIns="0" rIns="0" bIns="0" anchor="t">
            <a:spAutoFit/>
          </a:bodyPr>
          <a:lstStyle/>
          <a:p>
            <a:pPr algn="l"/>
            <a:r>
              <a:rPr sz="900" b="0" i="0" u="none">
                <a:solidFill>
                  <a:srgbClr val="64748B"/>
                </a:solidFill>
                <a:latin typeface="Lato"/>
              </a:rPr>
              <a:t>Smart Zone — Electronics Retail Store</a:t>
            </a:r>
          </a:p>
        </p:txBody>
      </p:sp>
      <p:sp>
        <p:nvSpPr>
          <p:cNvPr id="7" name="TextBox 6"/>
          <p:cNvSpPr txBox="1"/>
          <p:nvPr/>
        </p:nvSpPr>
        <p:spPr>
          <a:xfrm>
            <a:off x="10391775" y="6515100"/>
            <a:ext cx="1314450" cy="142875"/>
          </a:xfrm>
          <a:prstGeom prst="rect">
            <a:avLst/>
          </a:prstGeom>
          <a:noFill/>
        </p:spPr>
        <p:txBody>
          <a:bodyPr wrap="square" lIns="0" tIns="0" rIns="0" bIns="0" anchor="t">
            <a:spAutoFit/>
          </a:bodyPr>
          <a:lstStyle/>
          <a:p>
            <a:pPr algn="l"/>
            <a:r>
              <a:rPr sz="900" b="0" i="0" u="none">
                <a:solidFill>
                  <a:srgbClr val="64748B"/>
                </a:solidFill>
                <a:latin typeface="Lato"/>
              </a:rPr>
              <a:t>Data Pipeline Architecture</a:t>
            </a:r>
          </a:p>
        </p:txBody>
      </p:sp>
      <p:pic>
        <p:nvPicPr>
          <p:cNvPr id="8" name="Picture 7" descr="image.png"/>
          <p:cNvPicPr>
            <a:picLocks noChangeAspect="1"/>
          </p:cNvPicPr>
          <p:nvPr/>
        </p:nvPicPr>
        <p:blipFill>
          <a:blip r:embed="rId6"/>
          <a:stretch>
            <a:fillRect/>
          </a:stretch>
        </p:blipFill>
        <p:spPr>
          <a:xfrm>
            <a:off x="876300" y="2793652"/>
            <a:ext cx="10439400" cy="514350"/>
          </a:xfrm>
          <a:prstGeom prst="rect">
            <a:avLst/>
          </a:prstGeom>
        </p:spPr>
      </p:pic>
      <p:sp>
        <p:nvSpPr>
          <p:cNvPr id="9" name="TextBox 8"/>
          <p:cNvSpPr txBox="1"/>
          <p:nvPr/>
        </p:nvSpPr>
        <p:spPr>
          <a:xfrm>
            <a:off x="615315" y="3498502"/>
            <a:ext cx="10961370" cy="400050"/>
          </a:xfrm>
          <a:prstGeom prst="rect">
            <a:avLst/>
          </a:prstGeom>
          <a:noFill/>
        </p:spPr>
        <p:txBody>
          <a:bodyPr wrap="square" lIns="0" tIns="0" rIns="0" bIns="0" anchor="t">
            <a:spAutoFit/>
          </a:bodyPr>
          <a:lstStyle/>
          <a:p>
            <a:pPr algn="ctr"/>
            <a:r>
              <a:rPr sz="2100" b="0" i="0" u="none">
                <a:solidFill>
                  <a:srgbClr val="F8FAFC"/>
                </a:solidFill>
                <a:latin typeface="Poppins SemiBold"/>
              </a:rPr>
              <a:t>Transition to Data Cleaning &amp; Engineering</a:t>
            </a:r>
          </a:p>
        </p:txBody>
      </p:sp>
      <p:sp>
        <p:nvSpPr>
          <p:cNvPr id="10" name="TextBox 9"/>
          <p:cNvSpPr txBox="1"/>
          <p:nvPr/>
        </p:nvSpPr>
        <p:spPr>
          <a:xfrm>
            <a:off x="1809750" y="4050952"/>
            <a:ext cx="8572500" cy="822870"/>
          </a:xfrm>
          <a:prstGeom prst="rect">
            <a:avLst/>
          </a:prstGeom>
          <a:noFill/>
        </p:spPr>
        <p:txBody>
          <a:bodyPr wrap="square" lIns="0" tIns="0" rIns="0" bIns="0" anchor="t">
            <a:spAutoFit/>
          </a:bodyPr>
          <a:lstStyle/>
          <a:p>
            <a:pPr algn="ctr">
              <a:lnSpc>
                <a:spcPts val="2160"/>
              </a:lnSpc>
            </a:pPr>
            <a:r>
              <a:rPr sz="1350" b="0" i="0" u="none">
                <a:solidFill>
                  <a:srgbClr val="CBD5E1"/>
                </a:solidFill>
                <a:latin typeface="Lato"/>
              </a:rPr>
              <a:t>Following the complete design of the conceptual ER model, relational schema mapping, and data dictionary specifications, the project transitions into constructing a realistic retail transactional dataset and applying dirty data distribution across multiple data engineering tools.</a:t>
            </a:r>
          </a:p>
        </p:txBody>
      </p:sp>
      <p:sp>
        <p:nvSpPr>
          <p:cNvPr id="11" name="TextBox 10"/>
          <p:cNvSpPr txBox="1"/>
          <p:nvPr/>
        </p:nvSpPr>
        <p:spPr>
          <a:xfrm>
            <a:off x="485775" y="485775"/>
            <a:ext cx="11706225" cy="523875"/>
          </a:xfrm>
          <a:prstGeom prst="rect">
            <a:avLst/>
          </a:prstGeom>
          <a:noFill/>
        </p:spPr>
        <p:txBody>
          <a:bodyPr wrap="square" lIns="0" tIns="0" rIns="0" bIns="0" anchor="ctr">
            <a:spAutoFit/>
          </a:bodyPr>
          <a:lstStyle/>
          <a:p>
            <a:pPr algn="l"/>
            <a:r>
              <a:rPr sz="2700" b="1" i="0" u="none">
                <a:solidFill>
                  <a:srgbClr val="F8FAFC"/>
                </a:solidFill>
                <a:latin typeface="Poppins"/>
              </a:rPr>
              <a:t>Phase 2: Data Engineering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85775" y="2922389"/>
            <a:ext cx="3613100" cy="1173360"/>
          </a:xfrm>
          <a:prstGeom prst="rect">
            <a:avLst/>
          </a:prstGeom>
        </p:spPr>
      </p:pic>
      <p:pic>
        <p:nvPicPr>
          <p:cNvPr id="4" name="Picture 3" descr="image.png"/>
          <p:cNvPicPr>
            <a:picLocks noChangeAspect="1"/>
          </p:cNvPicPr>
          <p:nvPr/>
        </p:nvPicPr>
        <p:blipFill>
          <a:blip r:embed="rId3"/>
          <a:stretch>
            <a:fillRect/>
          </a:stretch>
        </p:blipFill>
        <p:spPr>
          <a:xfrm>
            <a:off x="4289375" y="2922389"/>
            <a:ext cx="3613100" cy="1173360"/>
          </a:xfrm>
          <a:prstGeom prst="rect">
            <a:avLst/>
          </a:prstGeom>
        </p:spPr>
      </p:pic>
      <p:pic>
        <p:nvPicPr>
          <p:cNvPr id="5" name="Picture 4" descr="image.png"/>
          <p:cNvPicPr>
            <a:picLocks noChangeAspect="1"/>
          </p:cNvPicPr>
          <p:nvPr/>
        </p:nvPicPr>
        <p:blipFill>
          <a:blip r:embed="rId3"/>
          <a:stretch>
            <a:fillRect/>
          </a:stretch>
        </p:blipFill>
        <p:spPr>
          <a:xfrm>
            <a:off x="8092975" y="2922389"/>
            <a:ext cx="3613249" cy="1173360"/>
          </a:xfrm>
          <a:prstGeom prst="rect">
            <a:avLst/>
          </a:prstGeom>
        </p:spPr>
      </p:pic>
      <p:pic>
        <p:nvPicPr>
          <p:cNvPr id="6" name="Picture 5" descr="image.png"/>
          <p:cNvPicPr>
            <a:picLocks noChangeAspect="1"/>
          </p:cNvPicPr>
          <p:nvPr/>
        </p:nvPicPr>
        <p:blipFill>
          <a:blip r:embed="rId4"/>
          <a:stretch>
            <a:fillRect/>
          </a:stretch>
        </p:blipFill>
        <p:spPr>
          <a:xfrm>
            <a:off x="485775" y="4286250"/>
            <a:ext cx="3613100" cy="1173360"/>
          </a:xfrm>
          <a:prstGeom prst="rect">
            <a:avLst/>
          </a:prstGeom>
        </p:spPr>
      </p:pic>
      <p:pic>
        <p:nvPicPr>
          <p:cNvPr id="7" name="Picture 6" descr="image.png"/>
          <p:cNvPicPr>
            <a:picLocks noChangeAspect="1"/>
          </p:cNvPicPr>
          <p:nvPr/>
        </p:nvPicPr>
        <p:blipFill>
          <a:blip r:embed="rId5"/>
          <a:stretch>
            <a:fillRect/>
          </a:stretch>
        </p:blipFill>
        <p:spPr>
          <a:xfrm>
            <a:off x="4289375" y="4286250"/>
            <a:ext cx="3613100" cy="1173360"/>
          </a:xfrm>
          <a:prstGeom prst="rect">
            <a:avLst/>
          </a:prstGeom>
        </p:spPr>
      </p:pic>
      <p:pic>
        <p:nvPicPr>
          <p:cNvPr id="8" name="Picture 7" descr="image.png"/>
          <p:cNvPicPr>
            <a:picLocks noChangeAspect="1"/>
          </p:cNvPicPr>
          <p:nvPr/>
        </p:nvPicPr>
        <p:blipFill>
          <a:blip r:embed="rId6"/>
          <a:stretch>
            <a:fillRect/>
          </a:stretch>
        </p:blipFill>
        <p:spPr>
          <a:xfrm>
            <a:off x="8092975" y="4286250"/>
            <a:ext cx="3613249" cy="1173360"/>
          </a:xfrm>
          <a:prstGeom prst="rect">
            <a:avLst/>
          </a:prstGeom>
        </p:spPr>
      </p:pic>
      <p:pic>
        <p:nvPicPr>
          <p:cNvPr id="9" name="Picture 8" descr="image.png"/>
          <p:cNvPicPr>
            <a:picLocks noChangeAspect="1"/>
          </p:cNvPicPr>
          <p:nvPr/>
        </p:nvPicPr>
        <p:blipFill>
          <a:blip r:embed="rId7"/>
          <a:stretch>
            <a:fillRect/>
          </a:stretch>
        </p:blipFill>
        <p:spPr>
          <a:xfrm>
            <a:off x="485775" y="6391275"/>
            <a:ext cx="11220450" cy="266700"/>
          </a:xfrm>
          <a:prstGeom prst="rect">
            <a:avLst/>
          </a:prstGeom>
        </p:spPr>
      </p:pic>
      <p:pic>
        <p:nvPicPr>
          <p:cNvPr id="10" name="Picture 9" descr="image.png"/>
          <p:cNvPicPr>
            <a:picLocks noChangeAspect="1"/>
          </p:cNvPicPr>
          <p:nvPr/>
        </p:nvPicPr>
        <p:blipFill>
          <a:blip r:embed="rId8"/>
          <a:stretch>
            <a:fillRect/>
          </a:stretch>
        </p:blipFill>
        <p:spPr>
          <a:xfrm>
            <a:off x="10682287" y="600075"/>
            <a:ext cx="1023937" cy="295275"/>
          </a:xfrm>
          <a:prstGeom prst="rect">
            <a:avLst/>
          </a:prstGeom>
        </p:spPr>
      </p:pic>
      <p:sp>
        <p:nvSpPr>
          <p:cNvPr id="11" name="TextBox 10"/>
          <p:cNvSpPr txBox="1"/>
          <p:nvPr/>
        </p:nvSpPr>
        <p:spPr>
          <a:xfrm>
            <a:off x="485775" y="2208014"/>
            <a:ext cx="11220450" cy="485775"/>
          </a:xfrm>
          <a:prstGeom prst="rect">
            <a:avLst/>
          </a:prstGeom>
          <a:noFill/>
        </p:spPr>
        <p:txBody>
          <a:bodyPr wrap="square" lIns="0" tIns="0" rIns="0" bIns="0" anchor="t">
            <a:spAutoFit/>
          </a:bodyPr>
          <a:lstStyle/>
          <a:p>
            <a:pPr algn="l">
              <a:lnSpc>
                <a:spcPts val="1912"/>
              </a:lnSpc>
            </a:pPr>
            <a:r>
              <a:rPr sz="1275" b="0" i="0" u="none">
                <a:solidFill>
                  <a:srgbClr val="CBD5E1"/>
                </a:solidFill>
                <a:latin typeface="Lato"/>
              </a:rPr>
              <a:t>First, I focused on making the dataset as realistic as possible in terms of the sales period and sales volume. The sales data represents approximately six months of transactions, with the dataset size set as follows:</a:t>
            </a:r>
          </a:p>
        </p:txBody>
      </p:sp>
      <p:sp>
        <p:nvSpPr>
          <p:cNvPr id="12" name="TextBox 11"/>
          <p:cNvSpPr txBox="1"/>
          <p:nvPr/>
        </p:nvSpPr>
        <p:spPr>
          <a:xfrm>
            <a:off x="485775" y="6515100"/>
            <a:ext cx="1857375" cy="142875"/>
          </a:xfrm>
          <a:prstGeom prst="rect">
            <a:avLst/>
          </a:prstGeom>
          <a:noFill/>
        </p:spPr>
        <p:txBody>
          <a:bodyPr wrap="square" lIns="0" tIns="0" rIns="0" bIns="0" anchor="t">
            <a:spAutoFit/>
          </a:bodyPr>
          <a:lstStyle/>
          <a:p>
            <a:pPr algn="l"/>
            <a:r>
              <a:rPr sz="900" b="0" i="0" u="none">
                <a:solidFill>
                  <a:srgbClr val="64748B"/>
                </a:solidFill>
                <a:latin typeface="Lato"/>
              </a:rPr>
              <a:t>Smart Zone — Electronics Retail Store</a:t>
            </a:r>
          </a:p>
        </p:txBody>
      </p:sp>
      <p:sp>
        <p:nvSpPr>
          <p:cNvPr id="13" name="TextBox 12"/>
          <p:cNvSpPr txBox="1"/>
          <p:nvPr/>
        </p:nvSpPr>
        <p:spPr>
          <a:xfrm>
            <a:off x="10553700" y="6515100"/>
            <a:ext cx="1152525" cy="142875"/>
          </a:xfrm>
          <a:prstGeom prst="rect">
            <a:avLst/>
          </a:prstGeom>
          <a:noFill/>
        </p:spPr>
        <p:txBody>
          <a:bodyPr wrap="square" lIns="0" tIns="0" rIns="0" bIns="0" anchor="t">
            <a:spAutoFit/>
          </a:bodyPr>
          <a:lstStyle/>
          <a:p>
            <a:pPr algn="l"/>
            <a:r>
              <a:rPr sz="900" b="0" i="0" u="none">
                <a:solidFill>
                  <a:srgbClr val="64748B"/>
                </a:solidFill>
                <a:latin typeface="Lato"/>
              </a:rPr>
              <a:t>Dataset Scale &amp; Volume</a:t>
            </a:r>
          </a:p>
        </p:txBody>
      </p:sp>
      <p:sp>
        <p:nvSpPr>
          <p:cNvPr id="14" name="TextBox 13"/>
          <p:cNvSpPr txBox="1"/>
          <p:nvPr/>
        </p:nvSpPr>
        <p:spPr>
          <a:xfrm>
            <a:off x="723900" y="3160514"/>
            <a:ext cx="3136850" cy="439935"/>
          </a:xfrm>
          <a:prstGeom prst="rect">
            <a:avLst/>
          </a:prstGeom>
          <a:noFill/>
        </p:spPr>
        <p:txBody>
          <a:bodyPr wrap="square" lIns="0" tIns="0" rIns="0" bIns="0" anchor="t">
            <a:spAutoFit/>
          </a:bodyPr>
          <a:lstStyle/>
          <a:p>
            <a:pPr algn="ctr">
              <a:lnSpc>
                <a:spcPts val="3465"/>
              </a:lnSpc>
            </a:pPr>
            <a:r>
              <a:rPr sz="3150" b="0" i="0" u="none">
                <a:solidFill>
                  <a:srgbClr val="F59E0B"/>
                </a:solidFill>
                <a:latin typeface="Poppins ExtraBold"/>
              </a:rPr>
              <a:t>3,000</a:t>
            </a:r>
          </a:p>
        </p:txBody>
      </p:sp>
      <p:sp>
        <p:nvSpPr>
          <p:cNvPr id="15" name="TextBox 14"/>
          <p:cNvSpPr txBox="1"/>
          <p:nvPr/>
        </p:nvSpPr>
        <p:spPr>
          <a:xfrm>
            <a:off x="723900" y="3676650"/>
            <a:ext cx="3136850" cy="180975"/>
          </a:xfrm>
          <a:prstGeom prst="rect">
            <a:avLst/>
          </a:prstGeom>
          <a:noFill/>
        </p:spPr>
        <p:txBody>
          <a:bodyPr wrap="square" lIns="0" tIns="0" rIns="0" bIns="0" anchor="t">
            <a:spAutoFit/>
          </a:bodyPr>
          <a:lstStyle/>
          <a:p>
            <a:pPr algn="ctr"/>
            <a:r>
              <a:rPr sz="1200" b="0" i="0" u="none">
                <a:solidFill>
                  <a:srgbClr val="F8FAFC"/>
                </a:solidFill>
                <a:latin typeface="Lato SemiBold"/>
              </a:rPr>
              <a:t>SaleDetails Rows</a:t>
            </a:r>
          </a:p>
        </p:txBody>
      </p:sp>
      <p:sp>
        <p:nvSpPr>
          <p:cNvPr id="16" name="TextBox 15"/>
          <p:cNvSpPr txBox="1"/>
          <p:nvPr/>
        </p:nvSpPr>
        <p:spPr>
          <a:xfrm>
            <a:off x="4527500" y="3160514"/>
            <a:ext cx="3136850" cy="439935"/>
          </a:xfrm>
          <a:prstGeom prst="rect">
            <a:avLst/>
          </a:prstGeom>
          <a:noFill/>
        </p:spPr>
        <p:txBody>
          <a:bodyPr wrap="square" lIns="0" tIns="0" rIns="0" bIns="0" anchor="t">
            <a:spAutoFit/>
          </a:bodyPr>
          <a:lstStyle/>
          <a:p>
            <a:pPr algn="ctr">
              <a:lnSpc>
                <a:spcPts val="3465"/>
              </a:lnSpc>
            </a:pPr>
            <a:r>
              <a:rPr sz="3150" b="0" i="0" u="none">
                <a:solidFill>
                  <a:srgbClr val="38BDF8"/>
                </a:solidFill>
                <a:latin typeface="Poppins ExtraBold"/>
              </a:rPr>
              <a:t>1,200</a:t>
            </a:r>
          </a:p>
        </p:txBody>
      </p:sp>
      <p:sp>
        <p:nvSpPr>
          <p:cNvPr id="17" name="TextBox 16"/>
          <p:cNvSpPr txBox="1"/>
          <p:nvPr/>
        </p:nvSpPr>
        <p:spPr>
          <a:xfrm>
            <a:off x="4527500" y="3676650"/>
            <a:ext cx="3136850" cy="180975"/>
          </a:xfrm>
          <a:prstGeom prst="rect">
            <a:avLst/>
          </a:prstGeom>
          <a:noFill/>
        </p:spPr>
        <p:txBody>
          <a:bodyPr wrap="square" lIns="0" tIns="0" rIns="0" bIns="0" anchor="t">
            <a:spAutoFit/>
          </a:bodyPr>
          <a:lstStyle/>
          <a:p>
            <a:pPr algn="ctr"/>
            <a:r>
              <a:rPr sz="1200" b="0" i="0" u="none">
                <a:solidFill>
                  <a:srgbClr val="F8FAFC"/>
                </a:solidFill>
                <a:latin typeface="Lato SemiBold"/>
              </a:rPr>
              <a:t>Sales Rows</a:t>
            </a:r>
          </a:p>
        </p:txBody>
      </p:sp>
      <p:sp>
        <p:nvSpPr>
          <p:cNvPr id="18" name="TextBox 17"/>
          <p:cNvSpPr txBox="1"/>
          <p:nvPr/>
        </p:nvSpPr>
        <p:spPr>
          <a:xfrm>
            <a:off x="8331100" y="3160514"/>
            <a:ext cx="3136999" cy="439935"/>
          </a:xfrm>
          <a:prstGeom prst="rect">
            <a:avLst/>
          </a:prstGeom>
          <a:noFill/>
        </p:spPr>
        <p:txBody>
          <a:bodyPr wrap="square" lIns="0" tIns="0" rIns="0" bIns="0" anchor="t">
            <a:spAutoFit/>
          </a:bodyPr>
          <a:lstStyle/>
          <a:p>
            <a:pPr algn="ctr">
              <a:lnSpc>
                <a:spcPts val="3465"/>
              </a:lnSpc>
            </a:pPr>
            <a:r>
              <a:rPr sz="3150" b="0" i="0" u="none">
                <a:solidFill>
                  <a:srgbClr val="10B981"/>
                </a:solidFill>
                <a:latin typeface="Poppins ExtraBold"/>
              </a:rPr>
              <a:t>350</a:t>
            </a:r>
          </a:p>
        </p:txBody>
      </p:sp>
      <p:sp>
        <p:nvSpPr>
          <p:cNvPr id="19" name="TextBox 18"/>
          <p:cNvSpPr txBox="1"/>
          <p:nvPr/>
        </p:nvSpPr>
        <p:spPr>
          <a:xfrm>
            <a:off x="8331100" y="3676650"/>
            <a:ext cx="3136999" cy="180975"/>
          </a:xfrm>
          <a:prstGeom prst="rect">
            <a:avLst/>
          </a:prstGeom>
          <a:noFill/>
        </p:spPr>
        <p:txBody>
          <a:bodyPr wrap="square" lIns="0" tIns="0" rIns="0" bIns="0" anchor="t">
            <a:spAutoFit/>
          </a:bodyPr>
          <a:lstStyle/>
          <a:p>
            <a:pPr algn="ctr"/>
            <a:r>
              <a:rPr sz="1200" b="0" i="0" u="none">
                <a:solidFill>
                  <a:srgbClr val="F8FAFC"/>
                </a:solidFill>
                <a:latin typeface="Lato SemiBold"/>
              </a:rPr>
              <a:t>Customers Rows</a:t>
            </a:r>
          </a:p>
        </p:txBody>
      </p:sp>
      <p:sp>
        <p:nvSpPr>
          <p:cNvPr id="20" name="TextBox 19"/>
          <p:cNvSpPr txBox="1"/>
          <p:nvPr/>
        </p:nvSpPr>
        <p:spPr>
          <a:xfrm>
            <a:off x="723900" y="4524375"/>
            <a:ext cx="3136850" cy="439935"/>
          </a:xfrm>
          <a:prstGeom prst="rect">
            <a:avLst/>
          </a:prstGeom>
          <a:noFill/>
        </p:spPr>
        <p:txBody>
          <a:bodyPr wrap="square" lIns="0" tIns="0" rIns="0" bIns="0" anchor="t">
            <a:spAutoFit/>
          </a:bodyPr>
          <a:lstStyle/>
          <a:p>
            <a:pPr algn="ctr">
              <a:lnSpc>
                <a:spcPts val="3465"/>
              </a:lnSpc>
            </a:pPr>
            <a:r>
              <a:rPr sz="3150" b="0" i="0" u="none">
                <a:solidFill>
                  <a:srgbClr val="38BDF8"/>
                </a:solidFill>
                <a:latin typeface="Poppins ExtraBold"/>
              </a:rPr>
              <a:t>120</a:t>
            </a:r>
          </a:p>
        </p:txBody>
      </p:sp>
      <p:sp>
        <p:nvSpPr>
          <p:cNvPr id="21" name="TextBox 20"/>
          <p:cNvSpPr txBox="1"/>
          <p:nvPr/>
        </p:nvSpPr>
        <p:spPr>
          <a:xfrm>
            <a:off x="723900" y="5040510"/>
            <a:ext cx="3136850" cy="180975"/>
          </a:xfrm>
          <a:prstGeom prst="rect">
            <a:avLst/>
          </a:prstGeom>
          <a:noFill/>
        </p:spPr>
        <p:txBody>
          <a:bodyPr wrap="square" lIns="0" tIns="0" rIns="0" bIns="0" anchor="t">
            <a:spAutoFit/>
          </a:bodyPr>
          <a:lstStyle/>
          <a:p>
            <a:pPr algn="ctr"/>
            <a:r>
              <a:rPr sz="1200" b="0" i="0" u="none">
                <a:solidFill>
                  <a:srgbClr val="F8FAFC"/>
                </a:solidFill>
                <a:latin typeface="Lato SemiBold"/>
              </a:rPr>
              <a:t>Products Rows</a:t>
            </a:r>
          </a:p>
        </p:txBody>
      </p:sp>
      <p:sp>
        <p:nvSpPr>
          <p:cNvPr id="22" name="TextBox 21"/>
          <p:cNvSpPr txBox="1"/>
          <p:nvPr/>
        </p:nvSpPr>
        <p:spPr>
          <a:xfrm>
            <a:off x="4527500" y="4524375"/>
            <a:ext cx="3136850" cy="439935"/>
          </a:xfrm>
          <a:prstGeom prst="rect">
            <a:avLst/>
          </a:prstGeom>
          <a:noFill/>
        </p:spPr>
        <p:txBody>
          <a:bodyPr wrap="square" lIns="0" tIns="0" rIns="0" bIns="0" anchor="t">
            <a:spAutoFit/>
          </a:bodyPr>
          <a:lstStyle/>
          <a:p>
            <a:pPr algn="ctr">
              <a:lnSpc>
                <a:spcPts val="3465"/>
              </a:lnSpc>
            </a:pPr>
            <a:r>
              <a:rPr sz="3150" b="0" i="0" u="none">
                <a:solidFill>
                  <a:srgbClr val="A855F7"/>
                </a:solidFill>
                <a:latin typeface="Poppins ExtraBold"/>
              </a:rPr>
              <a:t>18</a:t>
            </a:r>
          </a:p>
        </p:txBody>
      </p:sp>
      <p:sp>
        <p:nvSpPr>
          <p:cNvPr id="23" name="TextBox 22"/>
          <p:cNvSpPr txBox="1"/>
          <p:nvPr/>
        </p:nvSpPr>
        <p:spPr>
          <a:xfrm>
            <a:off x="4527500" y="5040510"/>
            <a:ext cx="3136850" cy="180975"/>
          </a:xfrm>
          <a:prstGeom prst="rect">
            <a:avLst/>
          </a:prstGeom>
          <a:noFill/>
        </p:spPr>
        <p:txBody>
          <a:bodyPr wrap="square" lIns="0" tIns="0" rIns="0" bIns="0" anchor="t">
            <a:spAutoFit/>
          </a:bodyPr>
          <a:lstStyle/>
          <a:p>
            <a:pPr algn="ctr"/>
            <a:r>
              <a:rPr sz="1200" b="0" i="0" u="none">
                <a:solidFill>
                  <a:srgbClr val="F8FAFC"/>
                </a:solidFill>
                <a:latin typeface="Lato SemiBold"/>
              </a:rPr>
              <a:t>Employees Rows</a:t>
            </a:r>
          </a:p>
        </p:txBody>
      </p:sp>
      <p:sp>
        <p:nvSpPr>
          <p:cNvPr id="24" name="TextBox 23"/>
          <p:cNvSpPr txBox="1"/>
          <p:nvPr/>
        </p:nvSpPr>
        <p:spPr>
          <a:xfrm>
            <a:off x="8331100" y="4524375"/>
            <a:ext cx="3136999" cy="439935"/>
          </a:xfrm>
          <a:prstGeom prst="rect">
            <a:avLst/>
          </a:prstGeom>
          <a:noFill/>
        </p:spPr>
        <p:txBody>
          <a:bodyPr wrap="square" lIns="0" tIns="0" rIns="0" bIns="0" anchor="t">
            <a:spAutoFit/>
          </a:bodyPr>
          <a:lstStyle/>
          <a:p>
            <a:pPr algn="ctr">
              <a:lnSpc>
                <a:spcPts val="3465"/>
              </a:lnSpc>
            </a:pPr>
            <a:r>
              <a:rPr sz="3150" b="0" i="0" u="none">
                <a:solidFill>
                  <a:srgbClr val="EC4899"/>
                </a:solidFill>
                <a:latin typeface="Poppins ExtraBold"/>
              </a:rPr>
              <a:t>3</a:t>
            </a:r>
          </a:p>
        </p:txBody>
      </p:sp>
      <p:sp>
        <p:nvSpPr>
          <p:cNvPr id="25" name="TextBox 24"/>
          <p:cNvSpPr txBox="1"/>
          <p:nvPr/>
        </p:nvSpPr>
        <p:spPr>
          <a:xfrm>
            <a:off x="8331100" y="5040510"/>
            <a:ext cx="3136999" cy="180975"/>
          </a:xfrm>
          <a:prstGeom prst="rect">
            <a:avLst/>
          </a:prstGeom>
          <a:noFill/>
        </p:spPr>
        <p:txBody>
          <a:bodyPr wrap="square" lIns="0" tIns="0" rIns="0" bIns="0" anchor="t">
            <a:spAutoFit/>
          </a:bodyPr>
          <a:lstStyle/>
          <a:p>
            <a:pPr algn="ctr"/>
            <a:r>
              <a:rPr sz="1200" b="0" i="0" u="none">
                <a:solidFill>
                  <a:srgbClr val="F8FAFC"/>
                </a:solidFill>
                <a:latin typeface="Lato SemiBold"/>
              </a:rPr>
              <a:t>Stores Rows</a:t>
            </a:r>
          </a:p>
        </p:txBody>
      </p:sp>
      <p:sp>
        <p:nvSpPr>
          <p:cNvPr id="26" name="TextBox 25"/>
          <p:cNvSpPr txBox="1"/>
          <p:nvPr/>
        </p:nvSpPr>
        <p:spPr>
          <a:xfrm>
            <a:off x="485775" y="485775"/>
            <a:ext cx="11706225" cy="523875"/>
          </a:xfrm>
          <a:prstGeom prst="rect">
            <a:avLst/>
          </a:prstGeom>
          <a:noFill/>
        </p:spPr>
        <p:txBody>
          <a:bodyPr wrap="square" lIns="0" tIns="0" rIns="0" bIns="0" anchor="ctr">
            <a:spAutoFit/>
          </a:bodyPr>
          <a:lstStyle/>
          <a:p>
            <a:pPr algn="l"/>
            <a:r>
              <a:rPr sz="2700" b="1" i="0" u="none">
                <a:solidFill>
                  <a:srgbClr val="F8FAFC"/>
                </a:solidFill>
                <a:latin typeface="Poppins"/>
              </a:rPr>
              <a:t>How I Get the Data?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85775" y="2971800"/>
            <a:ext cx="3587650" cy="2371725"/>
          </a:xfrm>
          <a:prstGeom prst="rect">
            <a:avLst/>
          </a:prstGeom>
        </p:spPr>
      </p:pic>
      <p:pic>
        <p:nvPicPr>
          <p:cNvPr id="4" name="Picture 3" descr="image.png"/>
          <p:cNvPicPr>
            <a:picLocks noChangeAspect="1"/>
          </p:cNvPicPr>
          <p:nvPr/>
        </p:nvPicPr>
        <p:blipFill>
          <a:blip r:embed="rId4"/>
          <a:stretch>
            <a:fillRect/>
          </a:stretch>
        </p:blipFill>
        <p:spPr>
          <a:xfrm>
            <a:off x="4302025" y="2971800"/>
            <a:ext cx="3587799" cy="2371725"/>
          </a:xfrm>
          <a:prstGeom prst="rect">
            <a:avLst/>
          </a:prstGeom>
        </p:spPr>
      </p:pic>
      <p:pic>
        <p:nvPicPr>
          <p:cNvPr id="5" name="Picture 4" descr="image.png"/>
          <p:cNvPicPr>
            <a:picLocks noChangeAspect="1"/>
          </p:cNvPicPr>
          <p:nvPr/>
        </p:nvPicPr>
        <p:blipFill>
          <a:blip r:embed="rId5"/>
          <a:stretch>
            <a:fillRect/>
          </a:stretch>
        </p:blipFill>
        <p:spPr>
          <a:xfrm>
            <a:off x="8118425" y="2971800"/>
            <a:ext cx="3587650" cy="2371725"/>
          </a:xfrm>
          <a:prstGeom prst="rect">
            <a:avLst/>
          </a:prstGeom>
        </p:spPr>
      </p:pic>
      <p:pic>
        <p:nvPicPr>
          <p:cNvPr id="6" name="Picture 5" descr="image.png"/>
          <p:cNvPicPr>
            <a:picLocks noChangeAspect="1"/>
          </p:cNvPicPr>
          <p:nvPr/>
        </p:nvPicPr>
        <p:blipFill>
          <a:blip r:embed="rId6"/>
          <a:stretch>
            <a:fillRect/>
          </a:stretch>
        </p:blipFill>
        <p:spPr>
          <a:xfrm>
            <a:off x="485775" y="6391275"/>
            <a:ext cx="11220450" cy="266700"/>
          </a:xfrm>
          <a:prstGeom prst="rect">
            <a:avLst/>
          </a:prstGeom>
        </p:spPr>
      </p:pic>
      <p:pic>
        <p:nvPicPr>
          <p:cNvPr id="7" name="Picture 6" descr="image.png"/>
          <p:cNvPicPr>
            <a:picLocks noChangeAspect="1"/>
          </p:cNvPicPr>
          <p:nvPr/>
        </p:nvPicPr>
        <p:blipFill>
          <a:blip r:embed="rId7"/>
          <a:stretch>
            <a:fillRect/>
          </a:stretch>
        </p:blipFill>
        <p:spPr>
          <a:xfrm>
            <a:off x="10682287" y="600075"/>
            <a:ext cx="1023937" cy="295275"/>
          </a:xfrm>
          <a:prstGeom prst="rect">
            <a:avLst/>
          </a:prstGeom>
        </p:spPr>
      </p:pic>
      <p:sp>
        <p:nvSpPr>
          <p:cNvPr id="8" name="TextBox 7"/>
          <p:cNvSpPr txBox="1"/>
          <p:nvPr/>
        </p:nvSpPr>
        <p:spPr>
          <a:xfrm>
            <a:off x="485775" y="2324100"/>
            <a:ext cx="11220450" cy="457200"/>
          </a:xfrm>
          <a:prstGeom prst="rect">
            <a:avLst/>
          </a:prstGeom>
          <a:noFill/>
        </p:spPr>
        <p:txBody>
          <a:bodyPr wrap="square" lIns="0" tIns="0" rIns="0" bIns="0" anchor="t">
            <a:spAutoFit/>
          </a:bodyPr>
          <a:lstStyle/>
          <a:p>
            <a:pPr algn="l">
              <a:lnSpc>
                <a:spcPts val="1800"/>
              </a:lnSpc>
            </a:pPr>
            <a:r>
              <a:rPr sz="1200" b="0" i="0" u="none">
                <a:solidFill>
                  <a:srgbClr val="CBD5E1"/>
                </a:solidFill>
                <a:latin typeface="Lato"/>
              </a:rPr>
              <a:t>I provided all the data cleaning tools we learned, and based on them, I intentionally created the missing and dirty data. I distributed different types of missing and inconsistent data across all tables. Each table is used as a sample for a specific cleaning tool:</a:t>
            </a:r>
          </a:p>
        </p:txBody>
      </p:sp>
      <p:sp>
        <p:nvSpPr>
          <p:cNvPr id="9" name="TextBox 8"/>
          <p:cNvSpPr txBox="1"/>
          <p:nvPr/>
        </p:nvSpPr>
        <p:spPr>
          <a:xfrm>
            <a:off x="485775" y="6515100"/>
            <a:ext cx="1857375" cy="142875"/>
          </a:xfrm>
          <a:prstGeom prst="rect">
            <a:avLst/>
          </a:prstGeom>
          <a:noFill/>
        </p:spPr>
        <p:txBody>
          <a:bodyPr wrap="square" lIns="0" tIns="0" rIns="0" bIns="0" anchor="t">
            <a:spAutoFit/>
          </a:bodyPr>
          <a:lstStyle/>
          <a:p>
            <a:pPr algn="l"/>
            <a:r>
              <a:rPr sz="900" b="0" i="0" u="none">
                <a:solidFill>
                  <a:srgbClr val="64748B"/>
                </a:solidFill>
                <a:latin typeface="Lato"/>
              </a:rPr>
              <a:t>Smart Zone — Electronics Retail Store</a:t>
            </a:r>
          </a:p>
        </p:txBody>
      </p:sp>
      <p:sp>
        <p:nvSpPr>
          <p:cNvPr id="10" name="TextBox 9"/>
          <p:cNvSpPr txBox="1"/>
          <p:nvPr/>
        </p:nvSpPr>
        <p:spPr>
          <a:xfrm>
            <a:off x="9782175" y="6515100"/>
            <a:ext cx="1924050" cy="142875"/>
          </a:xfrm>
          <a:prstGeom prst="rect">
            <a:avLst/>
          </a:prstGeom>
          <a:noFill/>
        </p:spPr>
        <p:txBody>
          <a:bodyPr wrap="square" lIns="0" tIns="0" rIns="0" bIns="0" anchor="t">
            <a:spAutoFit/>
          </a:bodyPr>
          <a:lstStyle/>
          <a:p>
            <a:pPr algn="l"/>
            <a:r>
              <a:rPr sz="900" b="0" i="0" u="none">
                <a:solidFill>
                  <a:srgbClr val="64748B"/>
                </a:solidFill>
                <a:latin typeface="Lato"/>
              </a:rPr>
              <a:t>Data Cleaning Strategy &amp; Tool Mapping</a:t>
            </a:r>
          </a:p>
        </p:txBody>
      </p:sp>
      <p:pic>
        <p:nvPicPr>
          <p:cNvPr id="11" name="Picture 10" descr="image.png"/>
          <p:cNvPicPr>
            <a:picLocks noChangeAspect="1"/>
          </p:cNvPicPr>
          <p:nvPr/>
        </p:nvPicPr>
        <p:blipFill>
          <a:blip r:embed="rId8"/>
          <a:stretch>
            <a:fillRect/>
          </a:stretch>
        </p:blipFill>
        <p:spPr>
          <a:xfrm>
            <a:off x="723900" y="3209925"/>
            <a:ext cx="476250" cy="476250"/>
          </a:xfrm>
          <a:prstGeom prst="rect">
            <a:avLst/>
          </a:prstGeom>
        </p:spPr>
      </p:pic>
      <p:sp>
        <p:nvSpPr>
          <p:cNvPr id="12" name="TextBox 11"/>
          <p:cNvSpPr txBox="1"/>
          <p:nvPr/>
        </p:nvSpPr>
        <p:spPr>
          <a:xfrm>
            <a:off x="723900" y="3838575"/>
            <a:ext cx="3266970" cy="314325"/>
          </a:xfrm>
          <a:prstGeom prst="rect">
            <a:avLst/>
          </a:prstGeom>
          <a:noFill/>
        </p:spPr>
        <p:txBody>
          <a:bodyPr wrap="square" lIns="0" tIns="0" rIns="0" bIns="0" anchor="t">
            <a:spAutoFit/>
          </a:bodyPr>
          <a:lstStyle/>
          <a:p>
            <a:pPr algn="l"/>
            <a:r>
              <a:rPr sz="1650" b="0" i="0" u="none">
                <a:solidFill>
                  <a:srgbClr val="38BDF8"/>
                </a:solidFill>
                <a:latin typeface="Poppins SemiBold"/>
              </a:rPr>
              <a:t>Engine 1: MySQL</a:t>
            </a:r>
          </a:p>
        </p:txBody>
      </p:sp>
      <p:sp>
        <p:nvSpPr>
          <p:cNvPr id="13" name="TextBox 12"/>
          <p:cNvSpPr txBox="1"/>
          <p:nvPr/>
        </p:nvSpPr>
        <p:spPr>
          <a:xfrm>
            <a:off x="723900" y="4362450"/>
            <a:ext cx="3111400" cy="228600"/>
          </a:xfrm>
          <a:prstGeom prst="rect">
            <a:avLst/>
          </a:prstGeom>
          <a:noFill/>
        </p:spPr>
        <p:txBody>
          <a:bodyPr wrap="square" lIns="0" tIns="0" rIns="0" bIns="0" anchor="t">
            <a:spAutoFit/>
          </a:bodyPr>
          <a:lstStyle/>
          <a:p>
            <a:pPr algn="l">
              <a:lnSpc>
                <a:spcPts val="1800"/>
              </a:lnSpc>
            </a:pPr>
            <a:r>
              <a:rPr sz="1200" b="1" i="0" u="none">
                <a:solidFill>
                  <a:srgbClr val="38BDF8"/>
                </a:solidFill>
                <a:latin typeface="Lato"/>
              </a:rPr>
              <a:t>➔ Sales Table</a:t>
            </a:r>
          </a:p>
        </p:txBody>
      </p:sp>
      <p:sp>
        <p:nvSpPr>
          <p:cNvPr id="14" name="TextBox 13"/>
          <p:cNvSpPr txBox="1"/>
          <p:nvPr/>
        </p:nvSpPr>
        <p:spPr>
          <a:xfrm>
            <a:off x="723900" y="4705350"/>
            <a:ext cx="3111400" cy="400050"/>
          </a:xfrm>
          <a:prstGeom prst="rect">
            <a:avLst/>
          </a:prstGeom>
          <a:noFill/>
        </p:spPr>
        <p:txBody>
          <a:bodyPr wrap="square" lIns="0" tIns="0" rIns="0" bIns="0" anchor="t">
            <a:spAutoFit/>
          </a:bodyPr>
          <a:lstStyle/>
          <a:p>
            <a:pPr algn="l">
              <a:lnSpc>
                <a:spcPts val="1575"/>
              </a:lnSpc>
            </a:pPr>
            <a:r>
              <a:rPr sz="1050" b="0" i="0" u="none">
                <a:solidFill>
                  <a:srgbClr val="94A3B8"/>
                </a:solidFill>
                <a:latin typeface="Lato"/>
              </a:rPr>
              <a:t>Injected missing customer/employee keys and invalid status strings.</a:t>
            </a:r>
          </a:p>
        </p:txBody>
      </p:sp>
      <p:pic>
        <p:nvPicPr>
          <p:cNvPr id="15" name="Picture 14" descr="image.png"/>
          <p:cNvPicPr>
            <a:picLocks noChangeAspect="1"/>
          </p:cNvPicPr>
          <p:nvPr/>
        </p:nvPicPr>
        <p:blipFill>
          <a:blip r:embed="rId9"/>
          <a:stretch>
            <a:fillRect/>
          </a:stretch>
        </p:blipFill>
        <p:spPr>
          <a:xfrm>
            <a:off x="4540150" y="3209925"/>
            <a:ext cx="476250" cy="476250"/>
          </a:xfrm>
          <a:prstGeom prst="rect">
            <a:avLst/>
          </a:prstGeom>
        </p:spPr>
      </p:pic>
      <p:sp>
        <p:nvSpPr>
          <p:cNvPr id="16" name="TextBox 15"/>
          <p:cNvSpPr txBox="1"/>
          <p:nvPr/>
        </p:nvSpPr>
        <p:spPr>
          <a:xfrm>
            <a:off x="4540150" y="3838575"/>
            <a:ext cx="3267127" cy="314325"/>
          </a:xfrm>
          <a:prstGeom prst="rect">
            <a:avLst/>
          </a:prstGeom>
          <a:noFill/>
        </p:spPr>
        <p:txBody>
          <a:bodyPr wrap="square" lIns="0" tIns="0" rIns="0" bIns="0" anchor="t">
            <a:spAutoFit/>
          </a:bodyPr>
          <a:lstStyle/>
          <a:p>
            <a:pPr algn="l"/>
            <a:r>
              <a:rPr sz="1650" b="0" i="0" u="none">
                <a:solidFill>
                  <a:srgbClr val="38BDF8"/>
                </a:solidFill>
                <a:latin typeface="Poppins SemiBold"/>
              </a:rPr>
              <a:t>Engine 2: Power Query</a:t>
            </a:r>
          </a:p>
        </p:txBody>
      </p:sp>
      <p:sp>
        <p:nvSpPr>
          <p:cNvPr id="17" name="TextBox 16"/>
          <p:cNvSpPr txBox="1"/>
          <p:nvPr/>
        </p:nvSpPr>
        <p:spPr>
          <a:xfrm>
            <a:off x="4540150" y="4362450"/>
            <a:ext cx="3111549" cy="228600"/>
          </a:xfrm>
          <a:prstGeom prst="rect">
            <a:avLst/>
          </a:prstGeom>
          <a:noFill/>
        </p:spPr>
        <p:txBody>
          <a:bodyPr wrap="square" lIns="0" tIns="0" rIns="0" bIns="0" anchor="t">
            <a:spAutoFit/>
          </a:bodyPr>
          <a:lstStyle/>
          <a:p>
            <a:pPr algn="l">
              <a:lnSpc>
                <a:spcPts val="1800"/>
              </a:lnSpc>
            </a:pPr>
            <a:r>
              <a:rPr sz="1200" b="1" i="0" u="none">
                <a:solidFill>
                  <a:srgbClr val="F59E0B"/>
                </a:solidFill>
                <a:latin typeface="Lato"/>
              </a:rPr>
              <a:t>➔ Customers &amp; Products</a:t>
            </a:r>
          </a:p>
        </p:txBody>
      </p:sp>
      <p:sp>
        <p:nvSpPr>
          <p:cNvPr id="18" name="TextBox 17"/>
          <p:cNvSpPr txBox="1"/>
          <p:nvPr/>
        </p:nvSpPr>
        <p:spPr>
          <a:xfrm>
            <a:off x="4540150" y="4705350"/>
            <a:ext cx="3111549" cy="400050"/>
          </a:xfrm>
          <a:prstGeom prst="rect">
            <a:avLst/>
          </a:prstGeom>
          <a:noFill/>
        </p:spPr>
        <p:txBody>
          <a:bodyPr wrap="square" lIns="0" tIns="0" rIns="0" bIns="0" anchor="t">
            <a:spAutoFit/>
          </a:bodyPr>
          <a:lstStyle/>
          <a:p>
            <a:pPr algn="l">
              <a:lnSpc>
                <a:spcPts val="1575"/>
              </a:lnSpc>
            </a:pPr>
            <a:r>
              <a:rPr sz="1050" b="0" i="0" u="none">
                <a:solidFill>
                  <a:srgbClr val="94A3B8"/>
                </a:solidFill>
                <a:latin typeface="Lato"/>
              </a:rPr>
              <a:t>Uncleaned city names, trailing spaces, and null rating scores.</a:t>
            </a:r>
          </a:p>
        </p:txBody>
      </p:sp>
      <p:pic>
        <p:nvPicPr>
          <p:cNvPr id="19" name="Picture 18" descr="image.png"/>
          <p:cNvPicPr>
            <a:picLocks noChangeAspect="1"/>
          </p:cNvPicPr>
          <p:nvPr/>
        </p:nvPicPr>
        <p:blipFill>
          <a:blip r:embed="rId10"/>
          <a:stretch>
            <a:fillRect/>
          </a:stretch>
        </p:blipFill>
        <p:spPr>
          <a:xfrm>
            <a:off x="8356550" y="3209925"/>
            <a:ext cx="476250" cy="476250"/>
          </a:xfrm>
          <a:prstGeom prst="rect">
            <a:avLst/>
          </a:prstGeom>
        </p:spPr>
      </p:pic>
      <p:sp>
        <p:nvSpPr>
          <p:cNvPr id="20" name="TextBox 19"/>
          <p:cNvSpPr txBox="1"/>
          <p:nvPr/>
        </p:nvSpPr>
        <p:spPr>
          <a:xfrm>
            <a:off x="8356550" y="3838575"/>
            <a:ext cx="3266970" cy="314325"/>
          </a:xfrm>
          <a:prstGeom prst="rect">
            <a:avLst/>
          </a:prstGeom>
          <a:noFill/>
        </p:spPr>
        <p:txBody>
          <a:bodyPr wrap="square" lIns="0" tIns="0" rIns="0" bIns="0" anchor="t">
            <a:spAutoFit/>
          </a:bodyPr>
          <a:lstStyle/>
          <a:p>
            <a:pPr algn="l"/>
            <a:r>
              <a:rPr sz="1650" b="0" i="0" u="none">
                <a:solidFill>
                  <a:srgbClr val="38BDF8"/>
                </a:solidFill>
                <a:latin typeface="Poppins SemiBold"/>
              </a:rPr>
              <a:t>Engine 3: Python (Pandas)</a:t>
            </a:r>
          </a:p>
        </p:txBody>
      </p:sp>
      <p:sp>
        <p:nvSpPr>
          <p:cNvPr id="21" name="TextBox 20"/>
          <p:cNvSpPr txBox="1"/>
          <p:nvPr/>
        </p:nvSpPr>
        <p:spPr>
          <a:xfrm>
            <a:off x="8356550" y="4362450"/>
            <a:ext cx="3111400" cy="228600"/>
          </a:xfrm>
          <a:prstGeom prst="rect">
            <a:avLst/>
          </a:prstGeom>
          <a:noFill/>
        </p:spPr>
        <p:txBody>
          <a:bodyPr wrap="square" lIns="0" tIns="0" rIns="0" bIns="0" anchor="t">
            <a:spAutoFit/>
          </a:bodyPr>
          <a:lstStyle/>
          <a:p>
            <a:pPr algn="l">
              <a:lnSpc>
                <a:spcPts val="1800"/>
              </a:lnSpc>
            </a:pPr>
            <a:r>
              <a:rPr sz="1200" b="1" i="0" u="none">
                <a:solidFill>
                  <a:srgbClr val="10B981"/>
                </a:solidFill>
                <a:latin typeface="Lato"/>
              </a:rPr>
              <a:t>➔ SaleDetails Table</a:t>
            </a:r>
          </a:p>
        </p:txBody>
      </p:sp>
      <p:sp>
        <p:nvSpPr>
          <p:cNvPr id="22" name="TextBox 21"/>
          <p:cNvSpPr txBox="1"/>
          <p:nvPr/>
        </p:nvSpPr>
        <p:spPr>
          <a:xfrm>
            <a:off x="8356550" y="4705350"/>
            <a:ext cx="3111400" cy="400050"/>
          </a:xfrm>
          <a:prstGeom prst="rect">
            <a:avLst/>
          </a:prstGeom>
          <a:noFill/>
        </p:spPr>
        <p:txBody>
          <a:bodyPr wrap="square" lIns="0" tIns="0" rIns="0" bIns="0" anchor="t">
            <a:spAutoFit/>
          </a:bodyPr>
          <a:lstStyle/>
          <a:p>
            <a:pPr algn="l">
              <a:lnSpc>
                <a:spcPts val="1575"/>
              </a:lnSpc>
            </a:pPr>
            <a:r>
              <a:rPr sz="1050" b="0" i="0" u="none">
                <a:solidFill>
                  <a:srgbClr val="94A3B8"/>
                </a:solidFill>
                <a:latin typeface="Lato"/>
              </a:rPr>
              <a:t>Outlier discounts, negative unit prices, and duplicate line items.</a:t>
            </a:r>
          </a:p>
        </p:txBody>
      </p:sp>
      <p:pic>
        <p:nvPicPr>
          <p:cNvPr id="23" name="Picture 22" descr="image.png"/>
          <p:cNvPicPr>
            <a:picLocks noChangeAspect="1"/>
          </p:cNvPicPr>
          <p:nvPr/>
        </p:nvPicPr>
        <p:blipFill>
          <a:blip r:embed="rId11"/>
          <a:stretch>
            <a:fillRect/>
          </a:stretch>
        </p:blipFill>
        <p:spPr>
          <a:xfrm>
            <a:off x="828675" y="3295650"/>
            <a:ext cx="266700" cy="304800"/>
          </a:xfrm>
          <a:prstGeom prst="rect">
            <a:avLst/>
          </a:prstGeom>
        </p:spPr>
      </p:pic>
      <p:pic>
        <p:nvPicPr>
          <p:cNvPr id="24" name="Picture 23" descr="image.png"/>
          <p:cNvPicPr>
            <a:picLocks noChangeAspect="1"/>
          </p:cNvPicPr>
          <p:nvPr/>
        </p:nvPicPr>
        <p:blipFill>
          <a:blip r:embed="rId12"/>
          <a:stretch>
            <a:fillRect/>
          </a:stretch>
        </p:blipFill>
        <p:spPr>
          <a:xfrm>
            <a:off x="4625875" y="3295650"/>
            <a:ext cx="304800" cy="304800"/>
          </a:xfrm>
          <a:prstGeom prst="rect">
            <a:avLst/>
          </a:prstGeom>
        </p:spPr>
      </p:pic>
      <p:pic>
        <p:nvPicPr>
          <p:cNvPr id="25" name="Picture 24" descr="image.png"/>
          <p:cNvPicPr>
            <a:picLocks noChangeAspect="1"/>
          </p:cNvPicPr>
          <p:nvPr/>
        </p:nvPicPr>
        <p:blipFill>
          <a:blip r:embed="rId13"/>
          <a:stretch>
            <a:fillRect/>
          </a:stretch>
        </p:blipFill>
        <p:spPr>
          <a:xfrm>
            <a:off x="8461325" y="3295650"/>
            <a:ext cx="266700" cy="304800"/>
          </a:xfrm>
          <a:prstGeom prst="rect">
            <a:avLst/>
          </a:prstGeom>
        </p:spPr>
      </p:pic>
      <p:sp>
        <p:nvSpPr>
          <p:cNvPr id="26" name="TextBox 25"/>
          <p:cNvSpPr txBox="1"/>
          <p:nvPr/>
        </p:nvSpPr>
        <p:spPr>
          <a:xfrm>
            <a:off x="485775" y="485775"/>
            <a:ext cx="11706225" cy="523875"/>
          </a:xfrm>
          <a:prstGeom prst="rect">
            <a:avLst/>
          </a:prstGeom>
          <a:noFill/>
        </p:spPr>
        <p:txBody>
          <a:bodyPr wrap="square" lIns="0" tIns="0" rIns="0" bIns="0" anchor="ctr">
            <a:spAutoFit/>
          </a:bodyPr>
          <a:lstStyle/>
          <a:p>
            <a:pPr algn="l"/>
            <a:r>
              <a:rPr sz="2700" b="1" i="0" u="none">
                <a:solidFill>
                  <a:srgbClr val="F8FAFC"/>
                </a:solidFill>
                <a:latin typeface="Poppins"/>
              </a:rPr>
              <a:t>How I Get the Messy 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TotalTime>
  <Words>1188</Words>
  <Application>Microsoft Office PowerPoint</Application>
  <PresentationFormat>Widescreen</PresentationFormat>
  <Paragraphs>151</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Calibri</vt:lpstr>
      <vt:lpstr>Lato</vt:lpstr>
      <vt:lpstr>Lato SemiBold</vt:lpstr>
      <vt:lpstr>Poppins</vt:lpstr>
      <vt:lpstr>Poppins ExtraBold</vt:lpstr>
      <vt:lpstr>Poppins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mohamed_7705b</cp:lastModifiedBy>
  <cp:revision>2</cp:revision>
  <dcterms:created xsi:type="dcterms:W3CDTF">2013-01-27T09:14:16Z</dcterms:created>
  <dcterms:modified xsi:type="dcterms:W3CDTF">2026-08-21T19:05:49Z</dcterms:modified>
  <cp:category/>
</cp:coreProperties>
</file>