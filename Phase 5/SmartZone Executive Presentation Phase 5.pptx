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2087463"/>
            <a:ext cx="3924300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450" y="4446686"/>
            <a:ext cx="346710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95425" y="2573238"/>
            <a:ext cx="9201150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F8FAFC"/>
                </a:solidFill>
                <a:latin typeface="Poppins"/>
              </a:rPr>
              <a:t>SMART ZONE RETAIL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589436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Complete Dataset Model: Relational Star Schema, Dynamic DAX Measures, and Branch Profitability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91125" y="4599086"/>
            <a:ext cx="26384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Lato"/>
              </a:rPr>
              <a:t>Ahmad Mohamed Saad El-Din Mohamed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4195762"/>
            <a:ext cx="1125855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690812"/>
            <a:ext cx="2671762" cy="1276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7" y="2690812"/>
            <a:ext cx="2671762" cy="1276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690812"/>
            <a:ext cx="2671762" cy="1276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3512" y="2690812"/>
            <a:ext cx="2671762" cy="1276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2890837"/>
            <a:ext cx="22717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Lato SemiBold"/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119437"/>
            <a:ext cx="22717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Poppins"/>
              </a:rPr>
              <a:t>106.40M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3614737"/>
            <a:ext cx="22717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Lato"/>
              </a:rPr>
              <a:t>EGP Net Realized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012" y="2890837"/>
            <a:ext cx="22717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Lato SemiBold"/>
              </a:rPr>
              <a:t>TOTAL COST (COGS)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012" y="3119437"/>
            <a:ext cx="22717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Poppins"/>
              </a:rPr>
              <a:t>94.33M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012" y="3614737"/>
            <a:ext cx="22717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Lato"/>
              </a:rPr>
              <a:t>EGP Wholesale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2890837"/>
            <a:ext cx="22717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Lato SemiBold"/>
              </a:rPr>
              <a:t>TOTAL GROSS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3119437"/>
            <a:ext cx="22717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4ADE80"/>
                </a:solidFill>
                <a:latin typeface="Poppins"/>
              </a:rPr>
              <a:t>12.07M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614737"/>
            <a:ext cx="22717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Lato"/>
              </a:rPr>
              <a:t>EGP Net Earnings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537" y="2890837"/>
            <a:ext cx="22717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Lato SemiBold"/>
              </a:rPr>
              <a:t>PROFIT MARGIN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537" y="3119437"/>
            <a:ext cx="22717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4ADE80"/>
                </a:solidFill>
                <a:latin typeface="Poppins"/>
              </a:rPr>
              <a:t>11.34%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537" y="3614737"/>
            <a:ext cx="22717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Lato"/>
              </a:rPr>
              <a:t>Target: 10.0% Benchmark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471987"/>
            <a:ext cx="161925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9175" y="4395787"/>
            <a:ext cx="17335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Lato"/>
              </a:rPr>
              <a:t>1,200 Orders</a:t>
            </a:r>
            <a:r>
              <a:rPr sz="1200" b="0" i="0" u="none">
                <a:solidFill>
                  <a:srgbClr val="000000"/>
                </a:solidFill>
                <a:latin typeface="Lato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Lato"/>
              </a:rPr>
              <a:t>Total Unique Checkout Receipts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8100" y="4395787"/>
            <a:ext cx="1543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Lato"/>
              </a:rPr>
              <a:t>7,308 Units Sold</a:t>
            </a:r>
            <a:r>
              <a:rPr sz="1200" b="0" i="0" u="none">
                <a:solidFill>
                  <a:srgbClr val="000000"/>
                </a:solidFill>
                <a:latin typeface="Lato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Lato"/>
              </a:rPr>
              <a:t>Volume Across 7 Categories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4471987"/>
            <a:ext cx="23812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24650" y="4395787"/>
            <a:ext cx="16383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Lato"/>
              </a:rPr>
              <a:t>3 Regional Branches</a:t>
            </a:r>
            <a:r>
              <a:rPr sz="1200" b="0" i="0" u="none">
                <a:solidFill>
                  <a:srgbClr val="000000"/>
                </a:solidFill>
                <a:latin typeface="Lato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Lato"/>
              </a:rPr>
              <a:t>Cairo, Alexandria &amp; Mansoura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4025" y="4471987"/>
            <a:ext cx="266700" cy="209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25025" y="4395787"/>
            <a:ext cx="1724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Lato"/>
              </a:rPr>
              <a:t>16 Sales Reps</a:t>
            </a:r>
            <a:r>
              <a:rPr sz="1200" b="0" i="0" u="none">
                <a:solidFill>
                  <a:srgbClr val="000000"/>
                </a:solidFill>
                <a:latin typeface="Lato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Lato"/>
              </a:rPr>
              <a:t>Individual Performance Tracked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725" y="466725"/>
            <a:ext cx="1172527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Executive Overview &amp; </a:t>
            </a:r>
            <a:r>
              <a:rPr sz="2700" b="1" i="0" u="none">
                <a:solidFill>
                  <a:srgbClr val="38BDF8"/>
                </a:solidFill>
                <a:latin typeface="Poppins"/>
              </a:rPr>
              <a:t>Global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074068"/>
            <a:ext cx="11258550" cy="2652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4869656"/>
            <a:ext cx="11258550" cy="7048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6250" y="2083593"/>
          <a:ext cx="11239498" cy="2633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5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673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Branch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Total Revenue (EGP)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Total Profit (EGP)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Profit Margin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KPI Target Status (10.0%)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73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Smart Zone Mansoura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32,230,519.59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4,313,860.27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13.38%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 GREEN (1) - Margin Leader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73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Smart Zone Cairo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37,758,146.69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4,068,750.49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10.78%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 GREEN (1) - Volume Leader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73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Smart Zone Alexandria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36,411,294.59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3,685,437.67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10.12%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 GREEN (1) - Target Met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73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Lato"/>
                        </a:rPr>
                        <a:t>Corporate 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Lato"/>
                        </a:rPr>
                        <a:t>106,399,960.87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Lato"/>
                        </a:rPr>
                        <a:t>12,068,048.43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Lato"/>
                        </a:rPr>
                        <a:t>11.34%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Lato"/>
                        </a:rPr>
                        <a:t> GREEN (1) - Benchmark Exceeded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5325" y="5022056"/>
            <a:ext cx="10839450" cy="40005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7DD3FC"/>
                </a:solidFill>
                <a:latin typeface="Lato"/>
              </a:rPr>
              <a:t>Key Takeaway:</a:t>
            </a:r>
            <a:r>
              <a:rPr sz="1050" b="0" i="0" u="none">
                <a:solidFill>
                  <a:srgbClr val="7DD3FC"/>
                </a:solidFill>
                <a:latin typeface="Lato"/>
              </a:rPr>
              <a:t> With the complete 1,200 dataset, all three regional branches successfully exceeded the 10.0% profit margin benchmark. Alexandria improved significantly from 5.7% to 10.12% margin.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2559843"/>
            <a:ext cx="21728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49140" y="2559843"/>
            <a:ext cx="227215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21299" y="2559843"/>
            <a:ext cx="198536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6666" y="2559843"/>
            <a:ext cx="17646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71321" y="2559843"/>
            <a:ext cx="30444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5060156"/>
            <a:ext cx="133350" cy="1333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76250" y="3098006"/>
            <a:ext cx="2172890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49140" y="3098006"/>
            <a:ext cx="2272158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21299" y="3098006"/>
            <a:ext cx="1985367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06666" y="3098006"/>
            <a:ext cx="1764655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71321" y="3098006"/>
            <a:ext cx="3044428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6250" y="3636168"/>
            <a:ext cx="2172890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49140" y="3636168"/>
            <a:ext cx="2272158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21299" y="3636168"/>
            <a:ext cx="1985367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06666" y="3636168"/>
            <a:ext cx="1764655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71321" y="3636168"/>
            <a:ext cx="3044428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6250" y="4174331"/>
            <a:ext cx="2172890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49140" y="4174331"/>
            <a:ext cx="2272158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21299" y="4174331"/>
            <a:ext cx="1985367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06666" y="4174331"/>
            <a:ext cx="1764655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71321" y="4174331"/>
            <a:ext cx="3044428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1821" y="2697956"/>
            <a:ext cx="1885950" cy="280987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1821" y="3236118"/>
            <a:ext cx="1905000" cy="28098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1821" y="3774281"/>
            <a:ext cx="1685925" cy="28098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1821" y="4312443"/>
            <a:ext cx="2247900" cy="280987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6596" y="2776537"/>
            <a:ext cx="123825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6596" y="3852862"/>
            <a:ext cx="123825" cy="1238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6596" y="3314700"/>
            <a:ext cx="123825" cy="1238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6596" y="4391025"/>
            <a:ext cx="123825" cy="1238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6596" y="2776537"/>
            <a:ext cx="123825" cy="1238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6596" y="3314700"/>
            <a:ext cx="123825" cy="1238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6596" y="3852862"/>
            <a:ext cx="123825" cy="1238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6596" y="4391025"/>
            <a:ext cx="123825" cy="1238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66725" y="466725"/>
            <a:ext cx="1172527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Branch Performance &amp; </a:t>
            </a:r>
            <a:r>
              <a:rPr sz="2700" b="1" i="0" u="none">
                <a:solidFill>
                  <a:srgbClr val="38BDF8"/>
                </a:solidFill>
                <a:latin typeface="Poppins"/>
              </a:rPr>
              <a:t>KPI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688306"/>
            <a:ext cx="11258550" cy="427196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1697831"/>
          <a:ext cx="11239498" cy="4252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7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2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8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54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Hardware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Total Quantity Sold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Total Revenue (EGP)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Revenue Share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54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Laptops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1,409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44,939,874.56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42.23%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54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Smartphones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1,172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27,335,631.29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25.69%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54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Tablets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1,001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17,809,826.91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16.74%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54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Headphones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1,076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7,090,520.60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6.66%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54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Monitors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762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6,293,044.06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5.91%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54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Accessories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1,104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1,552,411.00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1.46%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54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Keyboards &amp; Mice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784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Lato"/>
                        </a:rPr>
                        <a:t>1,378,652.45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Lato"/>
                        </a:rPr>
                        <a:t>1.30%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55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Lato"/>
                        </a:rPr>
                        <a:t>Grand 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Lato"/>
                        </a:rPr>
                        <a:t>7,308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Lato"/>
                        </a:rPr>
                        <a:t>106,399,960.87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Lato"/>
                        </a:rPr>
                        <a:t>100.00%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76250" y="2174081"/>
            <a:ext cx="287119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47442" y="2174081"/>
            <a:ext cx="282788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5325" y="2174081"/>
            <a:ext cx="29720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7423" y="2174081"/>
            <a:ext cx="25683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6250" y="2645568"/>
            <a:ext cx="2871192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47442" y="2645568"/>
            <a:ext cx="2827883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5325" y="2645568"/>
            <a:ext cx="2972097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7423" y="2645568"/>
            <a:ext cx="2568326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6250" y="3117056"/>
            <a:ext cx="2871192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47442" y="3117056"/>
            <a:ext cx="2827883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5325" y="3117056"/>
            <a:ext cx="2972097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7423" y="3117056"/>
            <a:ext cx="2568326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6250" y="3588543"/>
            <a:ext cx="2871192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47442" y="3588543"/>
            <a:ext cx="2827883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5325" y="3588543"/>
            <a:ext cx="2972097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7423" y="3588543"/>
            <a:ext cx="2568326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250" y="4060031"/>
            <a:ext cx="2871192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47442" y="4060031"/>
            <a:ext cx="2827883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5325" y="4060031"/>
            <a:ext cx="2972097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7423" y="4060031"/>
            <a:ext cx="2568326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6250" y="4531518"/>
            <a:ext cx="2871192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47442" y="4531518"/>
            <a:ext cx="2827883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5325" y="4531518"/>
            <a:ext cx="2972097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7423" y="4531518"/>
            <a:ext cx="2568326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6250" y="5003006"/>
            <a:ext cx="2871192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47442" y="5003006"/>
            <a:ext cx="2827883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5325" y="5003006"/>
            <a:ext cx="2972097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7423" y="5003006"/>
            <a:ext cx="2568326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6250" y="5474493"/>
            <a:ext cx="2871192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47442" y="5474493"/>
            <a:ext cx="2827883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5325" y="5474493"/>
            <a:ext cx="2972097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7423" y="5474493"/>
            <a:ext cx="2568326" cy="95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725" y="466725"/>
            <a:ext cx="1172527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Sales by </a:t>
            </a:r>
            <a:r>
              <a:rPr sz="2700" b="1" i="0" u="none">
                <a:solidFill>
                  <a:srgbClr val="38BDF8"/>
                </a:solidFill>
                <a:latin typeface="Poppins"/>
              </a:rPr>
              <a:t>Product Category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900487"/>
            <a:ext cx="5457825" cy="704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14537"/>
            <a:ext cx="545782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2014537"/>
            <a:ext cx="5114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Lato"/>
              </a:rPr>
              <a:t>Payment Methods: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Installments lead in total value (22.89M EGP), closely followed by Credit Cards (22.01M EGP) and Mobile Wallets (20.16M EGP).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643187"/>
            <a:ext cx="5114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Lato"/>
              </a:rPr>
              <a:t>Top Sales Representative: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Ibrahim Ashraf generated 12.93M EGP across 112 transactions, followed by Tamer Ehab (12.50M EGP / 79 orders).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271837"/>
            <a:ext cx="5114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Lato"/>
              </a:rPr>
              <a:t>Unrecorded Payment Data: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41 transactions (5.45M EGP) are classified as </a:t>
            </a:r>
            <a:r>
              <a:rPr sz="1200" b="0" i="1" u="none">
                <a:solidFill>
                  <a:srgbClr val="94A3B8"/>
                </a:solidFill>
                <a:latin typeface="Lato"/>
              </a:rPr>
              <a:t>Unknown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due to missing payment records in the POS raw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4052887"/>
            <a:ext cx="5038725" cy="4000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EF08A"/>
                </a:solidFill>
                <a:latin typeface="Lato"/>
              </a:rPr>
              <a:t>Governance Recommendation:</a:t>
            </a:r>
            <a:r>
              <a:rPr sz="1050" b="0" i="0" u="none">
                <a:solidFill>
                  <a:srgbClr val="FEF08A"/>
                </a:solidFill>
                <a:latin typeface="Lato"/>
              </a:rPr>
              <a:t> Audit POS checkout flows to ensure mandatory payment method selection, eliminating the 5.1% Unknown revenue gap.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2024062"/>
            <a:ext cx="199072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4090987"/>
            <a:ext cx="10477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2038350"/>
            <a:ext cx="1905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2667000"/>
            <a:ext cx="1905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3295650"/>
            <a:ext cx="17145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6725" y="466725"/>
            <a:ext cx="1172527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Payment Channels &amp; </a:t>
            </a:r>
            <a:r>
              <a:rPr sz="2700" b="1" i="0" u="none">
                <a:solidFill>
                  <a:srgbClr val="38BDF8"/>
                </a:solidFill>
                <a:latin typeface="Poppins"/>
              </a:rPr>
              <a:t>Staff Productivity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625" y="2566987"/>
            <a:ext cx="10915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Lato"/>
              </a:rPr>
              <a:t>Full Target Compliance Across All Branches: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With the full dataset, all branches reached corporate profitability targets. Mansoura remains the margin efficiency benchmark (13.38%), while Cairo leads in sales volume (37.76M EGP).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625" y="3195637"/>
            <a:ext cx="10915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Lato"/>
              </a:rPr>
              <a:t>High-Value Hardware Dominance: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Laptops and Smartphones account for </a:t>
            </a:r>
            <a:r>
              <a:rPr sz="1200" b="1" i="0" u="none">
                <a:solidFill>
                  <a:srgbClr val="F8FAFC"/>
                </a:solidFill>
                <a:latin typeface="Lato"/>
              </a:rPr>
              <a:t>67.92%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of total company revenue (72.28M EGP out of 106.4M EGP), proving to be the primary revenue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3824287"/>
            <a:ext cx="10915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Lato"/>
              </a:rPr>
              <a:t>Digital &amp; Credit Financing Preference: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Non-cash methods (Installments, Credit/Debit, Mobile Wallets) represent over </a:t>
            </a:r>
            <a:r>
              <a:rPr sz="1200" b="1" i="0" u="none">
                <a:solidFill>
                  <a:srgbClr val="F8FAFC"/>
                </a:solidFill>
                <a:latin typeface="Lato"/>
              </a:rPr>
              <a:t>81.6%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of customer transactions, underscoring the importance of seamless digital payment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4452937"/>
            <a:ext cx="10915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Lato"/>
              </a:rPr>
              <a:t>Data Integration Integrity: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The Power Pivot relational Star Schema maintained 100% dynamic calculation integrity, smoothly scaling from 1,000 to 1,200 transactions without formula recalculation errors.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590800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3219450"/>
            <a:ext cx="21907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3848100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4476750"/>
            <a:ext cx="17145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725" y="466725"/>
            <a:ext cx="1172527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Key Strategic </a:t>
            </a:r>
            <a:r>
              <a:rPr sz="2700" b="1" i="0" u="none">
                <a:solidFill>
                  <a:srgbClr val="38BDF8"/>
                </a:solidFill>
                <a:latin typeface="Poppins"/>
              </a:rPr>
              <a:t>Insights &amp;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518</Words>
  <Application>Microsoft Office PowerPoint</Application>
  <PresentationFormat>Widescreen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Ahmad</cp:lastModifiedBy>
  <cp:revision>2</cp:revision>
  <dcterms:created xsi:type="dcterms:W3CDTF">2013-01-27T09:14:16Z</dcterms:created>
  <dcterms:modified xsi:type="dcterms:W3CDTF">2026-08-22T06:50:05Z</dcterms:modified>
  <cp:category/>
</cp:coreProperties>
</file>